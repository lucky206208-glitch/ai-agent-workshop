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798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ithub.com/lucky206208-glitch/ai-agent-workshop/pull/8" TargetMode="Externa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lucky206208-glitch/ai-agent-workshop/pull/8" TargetMode="Externa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lucky206208-glitch/ai-agent-workshop/pull/10" TargetMode="External"/><Relationship Id="rId2" Type="http://schemas.openxmlformats.org/officeDocument/2006/relationships/hyperlink" Target="https://github.com/lucky206208-glitch/ai-agent-workshop/pull/9" TargetMode="Externa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-marker"/>
          <p:cNvSpPr/>
          <p:nvPr/>
        </p:nvSpPr>
        <p:spPr>
          <a:xfrm>
            <a:off x="438912" y="347472"/>
            <a:ext cx="128016" cy="128016"/>
          </a:xfrm>
          <a:prstGeom prst="rect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kicker-label"/>
          <p:cNvSpPr txBox="1"/>
          <p:nvPr/>
        </p:nvSpPr>
        <p:spPr>
          <a:xfrm>
            <a:off x="676656" y="283464"/>
            <a:ext cx="4206240" cy="256032"/>
          </a:xfrm>
          <a:prstGeom prst="rect">
            <a:avLst/>
          </a:prstGeom>
          <a:noFill/>
        </p:spPr>
        <p:txBody>
          <a:bodyPr wrap="square" lIns="27432" tIns="18288" rIns="27432" bIns="18288" anchor="ctr">
            <a:spAutoFit/>
          </a:bodyPr>
          <a:lstStyle/>
          <a:p>
            <a:r>
              <a:rPr sz="1000" b="1">
                <a:solidFill>
                  <a:srgbClr val="E8000D"/>
                </a:solidFill>
                <a:latin typeface="Consolas"/>
              </a:rPr>
              <a:t>LECTURE 02 / GITHUB PR CONTROL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" y="822960"/>
            <a:ext cx="2606040" cy="22860"/>
          </a:xfrm>
          <a:prstGeom prst="rect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58368" y="1143000"/>
            <a:ext cx="6583680" cy="141732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3600" b="1">
                <a:solidFill>
                  <a:srgbClr val="111111"/>
                </a:solidFill>
                <a:latin typeface="Malgun Gothic"/>
              </a:rPr>
              <a:t>AI agent PR을
merge해도 되는지 판단하기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944" y="2651760"/>
            <a:ext cx="6949440" cy="530352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1400" b="0">
                <a:solidFill>
                  <a:srgbClr val="444444"/>
                </a:solidFill>
                <a:latin typeface="Malgun Gothic"/>
              </a:rPr>
              <a:t>Git 명령어 암기가 아니라 PR 화면에서 변경 범위, 실제 diff, 자동검사 결과를 읽는 수업입니다.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3730752"/>
            <a:ext cx="3108960" cy="1234440"/>
          </a:xfrm>
          <a:prstGeom prst="roundRect">
            <a:avLst>
              <a:gd name="adj" fmla="val 8000"/>
            </a:avLst>
          </a:prstGeom>
          <a:solidFill>
            <a:srgbClr val="E8FF3B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22959" y="3877056"/>
            <a:ext cx="2779776" cy="310896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1300" b="1">
                <a:solidFill>
                  <a:srgbClr val="111111"/>
                </a:solidFill>
                <a:latin typeface="Malgun Gothic"/>
              </a:rPr>
              <a:t>핵심 질문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4261104"/>
            <a:ext cx="2779776" cy="576072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900" b="0">
                <a:solidFill>
                  <a:srgbClr val="444444"/>
                </a:solidFill>
                <a:latin typeface="Malgun Gothic"/>
              </a:rPr>
              <a:t>이 변경을 main에 합쳐도 되는가? 근거는 파일, diff, checks에서 찾습니다.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005072" y="3401568"/>
            <a:ext cx="2743200" cy="1572768"/>
          </a:xfrm>
          <a:prstGeom prst="roundRect">
            <a:avLst>
              <a:gd name="adj" fmla="val 8000"/>
            </a:avLst>
          </a:prstGeom>
          <a:solidFill>
            <a:srgbClr val="4ECDC4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169663" y="3547872"/>
            <a:ext cx="2414016" cy="310896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1300" b="1">
                <a:solidFill>
                  <a:srgbClr val="111111"/>
                </a:solidFill>
                <a:latin typeface="Malgun Gothic"/>
              </a:rPr>
              <a:t>읽는 순서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69663" y="3931920"/>
            <a:ext cx="2414016" cy="91440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900" b="0">
                <a:solidFill>
                  <a:srgbClr val="444444"/>
                </a:solidFill>
                <a:latin typeface="Malgun Gothic"/>
              </a:rPr>
              <a:t>Files changed -&gt; Diff -&gt; Checks -&gt; Decision 순서로 같은 PR을 반복해서 봅니다.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022592" y="3730752"/>
            <a:ext cx="3063240" cy="123444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187183" y="3877056"/>
            <a:ext cx="2734056" cy="310896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1300" b="1">
                <a:solidFill>
                  <a:srgbClr val="FFFFFF"/>
                </a:solidFill>
                <a:latin typeface="Malgun Gothic"/>
              </a:rPr>
              <a:t>결정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87183" y="4261104"/>
            <a:ext cx="2734056" cy="576072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900" b="0">
                <a:solidFill>
                  <a:srgbClr val="E6E6E6"/>
                </a:solidFill>
                <a:latin typeface="Malgun Gothic"/>
              </a:rPr>
              <a:t>Merge / Request changes / Hold 중 하나를 고르고 이유를 말합니다.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561320" y="1051560"/>
            <a:ext cx="228600" cy="4206240"/>
          </a:xfrm>
          <a:prstGeom prst="rect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641080" y="6492240"/>
            <a:ext cx="2971800" cy="164592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r"/>
            <a:r>
              <a:rPr sz="700" b="0">
                <a:solidFill>
                  <a:srgbClr val="737373"/>
                </a:solidFill>
                <a:latin typeface="Consolas"/>
              </a:rPr>
              <a:t>01 / Design reference: corazzon/pptx-design-styles (MIT)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-marker"/>
          <p:cNvSpPr/>
          <p:nvPr/>
        </p:nvSpPr>
        <p:spPr>
          <a:xfrm>
            <a:off x="438912" y="347472"/>
            <a:ext cx="128016" cy="128016"/>
          </a:xfrm>
          <a:prstGeom prst="rect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kicker-label"/>
          <p:cNvSpPr txBox="1"/>
          <p:nvPr/>
        </p:nvSpPr>
        <p:spPr>
          <a:xfrm>
            <a:off x="676656" y="283464"/>
            <a:ext cx="4206240" cy="256032"/>
          </a:xfrm>
          <a:prstGeom prst="rect">
            <a:avLst/>
          </a:prstGeom>
          <a:noFill/>
        </p:spPr>
        <p:txBody>
          <a:bodyPr wrap="square" lIns="27432" tIns="18288" rIns="27432" bIns="18288" anchor="ctr">
            <a:spAutoFit/>
          </a:bodyPr>
          <a:lstStyle/>
          <a:p>
            <a:r>
              <a:rPr sz="1000" b="1">
                <a:solidFill>
                  <a:srgbClr val="E8000D"/>
                </a:solidFill>
                <a:latin typeface="Consolas"/>
              </a:rPr>
              <a:t>PROBLEM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" y="822960"/>
            <a:ext cx="2606040" cy="22860"/>
          </a:xfrm>
          <a:prstGeom prst="rect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58368" y="969264"/>
            <a:ext cx="9189720" cy="1060704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2800" b="1">
                <a:solidFill>
                  <a:srgbClr val="111111"/>
                </a:solidFill>
                <a:latin typeface="Malgun Gothic"/>
              </a:rPr>
              <a:t>속도보다 merge 판단 기준이 중요하다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139696"/>
            <a:ext cx="8823960" cy="65836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1300" b="0">
                <a:solidFill>
                  <a:srgbClr val="444444"/>
                </a:solidFill>
                <a:latin typeface="Malgun Gothic"/>
              </a:rPr>
              <a:t>예: 제목 한 줄 수정 요청이 왔는데 agent가 스타일, 문서, 설정까지 바꾸면 속도보다 검토 기준이 먼저입니다.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41080" y="6492240"/>
            <a:ext cx="2971800" cy="164592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r"/>
            <a:r>
              <a:rPr sz="700" b="0">
                <a:solidFill>
                  <a:srgbClr val="737373"/>
                </a:solidFill>
                <a:latin typeface="Consolas"/>
              </a:rPr>
              <a:t>02 / Design reference: corazzon/pptx-design-styles (MIT)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971800"/>
            <a:ext cx="3246120" cy="1417320"/>
          </a:xfrm>
          <a:prstGeom prst="roundRect">
            <a:avLst>
              <a:gd name="adj" fmla="val 8000"/>
            </a:avLst>
          </a:prstGeom>
          <a:solidFill>
            <a:srgbClr val="E8FF3B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59" y="3118104"/>
            <a:ext cx="2916936" cy="310896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1300" b="1">
                <a:solidFill>
                  <a:srgbClr val="111111"/>
                </a:solidFill>
                <a:latin typeface="Malgun Gothic"/>
              </a:rPr>
              <a:t>빠른 생성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502152"/>
            <a:ext cx="2916936" cy="758952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900" b="0">
                <a:solidFill>
                  <a:srgbClr val="444444"/>
                </a:solidFill>
                <a:latin typeface="Malgun Gothic"/>
              </a:rPr>
              <a:t>요청이 작아도 agent는 README, CSS, 설정 파일까지 한 번에 수정할 수 있다.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07407" y="2971800"/>
            <a:ext cx="3246120" cy="1417320"/>
          </a:xfrm>
          <a:prstGeom prst="roundRect">
            <a:avLst>
              <a:gd name="adj" fmla="val 8000"/>
            </a:avLst>
          </a:prstGeom>
          <a:solidFill>
            <a:srgbClr val="4ECDC4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71999" y="3118104"/>
            <a:ext cx="2916936" cy="310896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1300" b="1">
                <a:solidFill>
                  <a:srgbClr val="111111"/>
                </a:solidFill>
                <a:latin typeface="Malgun Gothic"/>
              </a:rPr>
              <a:t>사람의 판단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1999" y="3502152"/>
            <a:ext cx="2916936" cy="758952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900" b="0">
                <a:solidFill>
                  <a:srgbClr val="444444"/>
                </a:solidFill>
                <a:latin typeface="Malgun Gothic"/>
              </a:rPr>
              <a:t>Files changed와 Diff를 보고 요청 밖 변경이 섞였는지 확인한다.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56448" y="2971800"/>
            <a:ext cx="3246120" cy="141732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321040" y="3118104"/>
            <a:ext cx="2916936" cy="310896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1300" b="1">
                <a:solidFill>
                  <a:srgbClr val="FFFFFF"/>
                </a:solidFill>
                <a:latin typeface="Malgun Gothic"/>
              </a:rPr>
              <a:t>실패 비용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3502152"/>
            <a:ext cx="2916936" cy="758952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900" b="0">
                <a:solidFill>
                  <a:srgbClr val="E6E6E6"/>
                </a:solidFill>
                <a:latin typeface="Malgun Gothic"/>
              </a:rPr>
              <a:t>잘못 merge하면 main에 불필요한 변경, 실패한 배포, secret 노출 위험이 들어간다.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-marker"/>
          <p:cNvSpPr/>
          <p:nvPr/>
        </p:nvSpPr>
        <p:spPr>
          <a:xfrm>
            <a:off x="438912" y="347472"/>
            <a:ext cx="128016" cy="128016"/>
          </a:xfrm>
          <a:prstGeom prst="rect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kicker-label"/>
          <p:cNvSpPr txBox="1"/>
          <p:nvPr/>
        </p:nvSpPr>
        <p:spPr>
          <a:xfrm>
            <a:off x="676656" y="283464"/>
            <a:ext cx="4206240" cy="256032"/>
          </a:xfrm>
          <a:prstGeom prst="rect">
            <a:avLst/>
          </a:prstGeom>
          <a:noFill/>
        </p:spPr>
        <p:txBody>
          <a:bodyPr wrap="square" lIns="27432" tIns="18288" rIns="27432" bIns="18288" anchor="ctr">
            <a:spAutoFit/>
          </a:bodyPr>
          <a:lstStyle/>
          <a:p>
            <a:r>
              <a:rPr sz="1000" b="1">
                <a:solidFill>
                  <a:srgbClr val="E8000D"/>
                </a:solidFill>
                <a:latin typeface="Consolas"/>
              </a:rPr>
              <a:t>MAP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" y="822960"/>
            <a:ext cx="2606040" cy="22860"/>
          </a:xfrm>
          <a:prstGeom prst="rect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58368" y="969264"/>
            <a:ext cx="9189720" cy="1060704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2800" b="1">
                <a:solidFill>
                  <a:srgbClr val="111111"/>
                </a:solidFill>
                <a:latin typeface="Malgun Gothic"/>
              </a:rPr>
              <a:t>오늘은 세 개 Draft PR을 판정한다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139696"/>
            <a:ext cx="8823960" cy="65836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1300" b="0">
                <a:solidFill>
                  <a:srgbClr val="444444"/>
                </a:solidFill>
                <a:latin typeface="Malgun Gothic"/>
              </a:rPr>
              <a:t>모든 실습 PR은 Draft라서 실제 merge하지 않습니다. 판단 연습은 Draft 배너가 아니라 파일 범위, diff, checks를 기준으로 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41080" y="6492240"/>
            <a:ext cx="2971800" cy="164592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r"/>
            <a:r>
              <a:rPr sz="700" b="0">
                <a:solidFill>
                  <a:srgbClr val="737373"/>
                </a:solidFill>
                <a:latin typeface="Consolas"/>
              </a:rPr>
              <a:t>03 / Design reference: corazzon/pptx-design-styles (MIT)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971800"/>
            <a:ext cx="3246120" cy="1417320"/>
          </a:xfrm>
          <a:prstGeom prst="roundRect">
            <a:avLst>
              <a:gd name="adj" fmla="val 8000"/>
            </a:avLst>
          </a:prstGeom>
          <a:solidFill>
            <a:srgbClr val="E8FF3B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59" y="3118104"/>
            <a:ext cx="2916936" cy="310896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1300" b="1">
                <a:solidFill>
                  <a:srgbClr val="111111"/>
                </a:solidFill>
                <a:latin typeface="Malgun Gothic"/>
              </a:rPr>
              <a:t>Good PR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502152"/>
            <a:ext cx="2916936" cy="758952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900" b="0">
                <a:solidFill>
                  <a:srgbClr val="444444"/>
                </a:solidFill>
                <a:latin typeface="Malgun Gothic"/>
              </a:rPr>
              <a:t>README와 index처럼 예상 파일만 바뀌고 checks가 통과하는 사례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07407" y="2971800"/>
            <a:ext cx="3246120" cy="1417320"/>
          </a:xfrm>
          <a:prstGeom prst="roundRect">
            <a:avLst>
              <a:gd name="adj" fmla="val 8000"/>
            </a:avLst>
          </a:prstGeom>
          <a:solidFill>
            <a:srgbClr val="4ECDC4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71999" y="3118104"/>
            <a:ext cx="2916936" cy="310896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1300" b="1">
                <a:solidFill>
                  <a:srgbClr val="111111"/>
                </a:solidFill>
                <a:latin typeface="Malgun Gothic"/>
              </a:rPr>
              <a:t>Problem 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1999" y="3502152"/>
            <a:ext cx="2916936" cy="758952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900" b="0">
                <a:solidFill>
                  <a:srgbClr val="444444"/>
                </a:solidFill>
                <a:latin typeface="Malgun Gothic"/>
              </a:rPr>
              <a:t>CI는 초록이지만 작은 copy 요청 밖 변경이 섞인 사례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56448" y="2971800"/>
            <a:ext cx="3246120" cy="1417320"/>
          </a:xfrm>
          <a:prstGeom prst="roundRect">
            <a:avLst>
              <a:gd name="adj" fmla="val 8000"/>
            </a:avLst>
          </a:prstGeom>
          <a:solidFill>
            <a:srgbClr val="FF6B6B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321040" y="3118104"/>
            <a:ext cx="2916936" cy="310896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1300" b="1">
                <a:solidFill>
                  <a:srgbClr val="111111"/>
                </a:solidFill>
                <a:latin typeface="Malgun Gothic"/>
              </a:rPr>
              <a:t>Problem 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3502152"/>
            <a:ext cx="2916936" cy="758952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900" b="0">
                <a:solidFill>
                  <a:srgbClr val="444444"/>
                </a:solidFill>
                <a:latin typeface="Malgun Gothic"/>
              </a:rPr>
              <a:t>.env와 training marker, 실패한 checks로 즉시 보류할 사례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-marker"/>
          <p:cNvSpPr/>
          <p:nvPr/>
        </p:nvSpPr>
        <p:spPr>
          <a:xfrm>
            <a:off x="438912" y="347472"/>
            <a:ext cx="128016" cy="128016"/>
          </a:xfrm>
          <a:prstGeom prst="rect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kicker-label"/>
          <p:cNvSpPr txBox="1"/>
          <p:nvPr/>
        </p:nvSpPr>
        <p:spPr>
          <a:xfrm>
            <a:off x="676656" y="283464"/>
            <a:ext cx="4206240" cy="256032"/>
          </a:xfrm>
          <a:prstGeom prst="rect">
            <a:avLst/>
          </a:prstGeom>
          <a:noFill/>
        </p:spPr>
        <p:txBody>
          <a:bodyPr wrap="square" lIns="27432" tIns="18288" rIns="27432" bIns="18288" anchor="ctr">
            <a:spAutoFit/>
          </a:bodyPr>
          <a:lstStyle/>
          <a:p>
            <a:r>
              <a:rPr sz="1000" b="1">
                <a:solidFill>
                  <a:srgbClr val="E8000D"/>
                </a:solidFill>
                <a:latin typeface="Consolas"/>
              </a:rPr>
              <a:t>GLOSSARY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" y="822960"/>
            <a:ext cx="2606040" cy="22860"/>
          </a:xfrm>
          <a:prstGeom prst="rect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58368" y="969264"/>
            <a:ext cx="9189720" cy="1060704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2800" b="1">
                <a:solidFill>
                  <a:srgbClr val="111111"/>
                </a:solidFill>
                <a:latin typeface="Malgun Gothic"/>
              </a:rPr>
              <a:t>용어는 판단 질문으로 묶어 이해한다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139696"/>
            <a:ext cx="8823960" cy="65836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1300" b="0">
                <a:solidFill>
                  <a:srgbClr val="444444"/>
                </a:solidFill>
                <a:latin typeface="Malgun Gothic"/>
              </a:rPr>
              <a:t>단어 뜻을 작게 나열하지 않고, 실제 PR 화면에서 무엇을 확인해야 하는지 세 묶음으로 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41080" y="6492240"/>
            <a:ext cx="2971800" cy="164592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r"/>
            <a:r>
              <a:rPr sz="700" b="0">
                <a:solidFill>
                  <a:srgbClr val="737373"/>
                </a:solidFill>
                <a:latin typeface="Consolas"/>
              </a:rPr>
              <a:t>04 / Design reference: corazzon/pptx-design-styles (MIT)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761488"/>
            <a:ext cx="10789920" cy="95097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46304" cy="950976"/>
          </a:xfrm>
          <a:prstGeom prst="rect">
            <a:avLst/>
          </a:prstGeom>
          <a:solidFill>
            <a:srgbClr val="E8FF3B"/>
          </a:solidFill>
          <a:ln>
            <a:solidFill>
              <a:srgbClr val="E8FF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960120" y="3026664"/>
            <a:ext cx="420624" cy="420624"/>
          </a:xfrm>
          <a:prstGeom prst="ellipse">
            <a:avLst/>
          </a:prstGeom>
          <a:solidFill>
            <a:srgbClr val="E8FF3B"/>
          </a:solidFill>
          <a:ln>
            <a:solidFill>
              <a:srgbClr val="E8FF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60120" y="3118104"/>
            <a:ext cx="420624" cy="13716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onsola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72768" y="2926080"/>
            <a:ext cx="2468880" cy="27432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1400" b="1">
                <a:solidFill>
                  <a:srgbClr val="111111"/>
                </a:solidFill>
                <a:latin typeface="Malgun Gothic"/>
              </a:rPr>
              <a:t>Issue + Branch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77639" y="2916936"/>
            <a:ext cx="3794760" cy="32004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1100" b="0">
                <a:solidFill>
                  <a:srgbClr val="111111"/>
                </a:solidFill>
                <a:latin typeface="Malgun Gothic"/>
              </a:rPr>
              <a:t>Issue는 요청서, Branch는 agent가 main과 분리해 작업하는 줄기입니다.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73568" y="2916936"/>
            <a:ext cx="3090672" cy="438912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900" b="0">
                <a:solidFill>
                  <a:srgbClr val="444444"/>
                </a:solidFill>
                <a:latin typeface="Malgun Gothic"/>
              </a:rPr>
              <a:t>예: README 링크 추가 요청을 한 문장으로 줄이고 별도 branch에서 작업하게 합니다.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3886200"/>
            <a:ext cx="10789920" cy="95097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58368" y="3886200"/>
            <a:ext cx="146304" cy="950976"/>
          </a:xfrm>
          <a:prstGeom prst="rect">
            <a:avLst/>
          </a:prstGeom>
          <a:solidFill>
            <a:srgbClr val="4ECDC4"/>
          </a:solidFill>
          <a:ln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960120" y="4151376"/>
            <a:ext cx="420624" cy="420624"/>
          </a:xfrm>
          <a:prstGeom prst="ellipse">
            <a:avLst/>
          </a:prstGeom>
          <a:solidFill>
            <a:srgbClr val="4ECDC4"/>
          </a:solidFill>
          <a:ln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60120" y="4242816"/>
            <a:ext cx="420624" cy="13716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onsolas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72768" y="4050791"/>
            <a:ext cx="2468880" cy="27432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1400" b="1">
                <a:solidFill>
                  <a:srgbClr val="111111"/>
                </a:solidFill>
                <a:latin typeface="Malgun Gothic"/>
              </a:rPr>
              <a:t>PR + Diff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77639" y="4041648"/>
            <a:ext cx="3794760" cy="32004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1100" b="0">
                <a:solidFill>
                  <a:srgbClr val="111111"/>
                </a:solidFill>
                <a:latin typeface="Malgun Gothic"/>
              </a:rPr>
              <a:t>PR은 merge 전 검문소이고, Files changed/Diff는 실제 변경 증거입니다.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73568" y="4041648"/>
            <a:ext cx="3090672" cy="438912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900" b="0">
                <a:solidFill>
                  <a:srgbClr val="444444"/>
                </a:solidFill>
                <a:latin typeface="Malgun Gothic"/>
              </a:rPr>
              <a:t>예: 작은 copy 요청인데 styles.css가 보이면 scope creep을 의심합니다.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5010912"/>
            <a:ext cx="10789920" cy="95097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658368" y="5010912"/>
            <a:ext cx="146304" cy="950976"/>
          </a:xfrm>
          <a:prstGeom prst="rect">
            <a:avLst/>
          </a:prstGeom>
          <a:solidFill>
            <a:srgbClr val="1A1A2E"/>
          </a:solidFill>
          <a:ln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960120" y="5276088"/>
            <a:ext cx="420624" cy="420624"/>
          </a:xfrm>
          <a:prstGeom prst="ellipse">
            <a:avLst/>
          </a:prstGeom>
          <a:solidFill>
            <a:srgbClr val="1A1A2E"/>
          </a:solidFill>
          <a:ln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60120" y="5367528"/>
            <a:ext cx="420624" cy="13716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onsolas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72768" y="5175504"/>
            <a:ext cx="2468880" cy="27432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1400" b="1">
                <a:solidFill>
                  <a:srgbClr val="111111"/>
                </a:solidFill>
                <a:latin typeface="Malgun Gothic"/>
              </a:rPr>
              <a:t>Checks + Decision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77639" y="5166360"/>
            <a:ext cx="3794760" cy="32004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1100" b="0">
                <a:solidFill>
                  <a:srgbClr val="111111"/>
                </a:solidFill>
                <a:latin typeface="Malgun Gothic"/>
              </a:rPr>
              <a:t>Checks/CI는 자동 검사이고, Merge/Hold는 사람이 내리는 운영 판단입니다.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73568" y="5166360"/>
            <a:ext cx="3090672" cy="438912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900" b="0">
                <a:solidFill>
                  <a:srgbClr val="444444"/>
                </a:solidFill>
                <a:latin typeface="Malgun Gothic"/>
              </a:rPr>
              <a:t>예: checks 실패나 .env 변경이 보이면 approve하지 않고 Hold합니다.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-marker"/>
          <p:cNvSpPr/>
          <p:nvPr/>
        </p:nvSpPr>
        <p:spPr>
          <a:xfrm>
            <a:off x="438912" y="347472"/>
            <a:ext cx="128016" cy="128016"/>
          </a:xfrm>
          <a:prstGeom prst="rect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kicker-label"/>
          <p:cNvSpPr txBox="1"/>
          <p:nvPr/>
        </p:nvSpPr>
        <p:spPr>
          <a:xfrm>
            <a:off x="676656" y="283464"/>
            <a:ext cx="4206240" cy="256032"/>
          </a:xfrm>
          <a:prstGeom prst="rect">
            <a:avLst/>
          </a:prstGeom>
          <a:noFill/>
        </p:spPr>
        <p:txBody>
          <a:bodyPr wrap="square" lIns="27432" tIns="18288" rIns="27432" bIns="18288" anchor="ctr">
            <a:spAutoFit/>
          </a:bodyPr>
          <a:lstStyle/>
          <a:p>
            <a:r>
              <a:rPr sz="1000" b="1">
                <a:solidFill>
                  <a:srgbClr val="E8000D"/>
                </a:solidFill>
                <a:latin typeface="Consolas"/>
              </a:rPr>
              <a:t>FLOW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" y="822960"/>
            <a:ext cx="2606040" cy="22860"/>
          </a:xfrm>
          <a:prstGeom prst="rect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58368" y="969264"/>
            <a:ext cx="9189720" cy="1060704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2800" b="1">
                <a:solidFill>
                  <a:srgbClr val="111111"/>
                </a:solidFill>
                <a:latin typeface="Malgun Gothic"/>
              </a:rPr>
              <a:t>Issue에서 Decision까지 한 줄로 이어 읽는다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139696"/>
            <a:ext cx="8823960" cy="65836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1300" b="0">
                <a:solidFill>
                  <a:srgbClr val="444444"/>
                </a:solidFill>
                <a:latin typeface="Malgun Gothic"/>
              </a:rPr>
              <a:t>예: README에 체크리스트 링크를 추가하라는 Issue가 있으면, PR이 정말 그 작업만 했는지 마지막 결정까지 추적합니다.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41080" y="6492240"/>
            <a:ext cx="2971800" cy="164592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r"/>
            <a:r>
              <a:rPr sz="700" b="0">
                <a:solidFill>
                  <a:srgbClr val="737373"/>
                </a:solidFill>
                <a:latin typeface="Consolas"/>
              </a:rPr>
              <a:t>05 / Design reference: corazzon/pptx-design-styles (MIT)</a:t>
            </a:r>
          </a:p>
        </p:txBody>
      </p:sp>
      <p:sp>
        <p:nvSpPr>
          <p:cNvPr id="8" name="Rectangle 7"/>
          <p:cNvSpPr/>
          <p:nvPr/>
        </p:nvSpPr>
        <p:spPr>
          <a:xfrm>
            <a:off x="859536" y="2898648"/>
            <a:ext cx="10341864" cy="16459"/>
          </a:xfrm>
          <a:prstGeom prst="rect">
            <a:avLst/>
          </a:prstGeom>
          <a:solidFill>
            <a:srgbClr val="C6C6BC"/>
          </a:solidFill>
          <a:ln>
            <a:solidFill>
              <a:srgbClr val="C6C6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795528" y="2734056"/>
            <a:ext cx="310896" cy="310896"/>
          </a:xfrm>
          <a:prstGeom prst="ellipse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95528" y="2802636"/>
            <a:ext cx="310896" cy="10972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onsolas"/>
              </a:rPr>
              <a:t>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063240"/>
            <a:ext cx="3246120" cy="1298448"/>
          </a:xfrm>
          <a:prstGeom prst="roundRect">
            <a:avLst>
              <a:gd name="adj" fmla="val 8000"/>
            </a:avLst>
          </a:prstGeom>
          <a:solidFill>
            <a:srgbClr val="E8FF3B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2959" y="3209544"/>
            <a:ext cx="2916936" cy="310896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1300" b="1">
                <a:solidFill>
                  <a:srgbClr val="111111"/>
                </a:solidFill>
                <a:latin typeface="Malgun Gothic"/>
              </a:rPr>
              <a:t>Issue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59" y="3593592"/>
            <a:ext cx="2916936" cy="64008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900" b="0">
                <a:solidFill>
                  <a:srgbClr val="444444"/>
                </a:solidFill>
                <a:latin typeface="Malgun Gothic"/>
              </a:rPr>
              <a:t>요구사항과 성공 기준을 한 문장으로 요약한다.</a:t>
            </a:r>
          </a:p>
        </p:txBody>
      </p:sp>
      <p:sp>
        <p:nvSpPr>
          <p:cNvPr id="14" name="Chevron 13"/>
          <p:cNvSpPr/>
          <p:nvPr/>
        </p:nvSpPr>
        <p:spPr>
          <a:xfrm>
            <a:off x="4023359" y="3529584"/>
            <a:ext cx="201168" cy="256032"/>
          </a:xfrm>
          <a:prstGeom prst="chevron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4544568" y="2734056"/>
            <a:ext cx="310896" cy="310896"/>
          </a:xfrm>
          <a:prstGeom prst="ellipse">
            <a:avLst/>
          </a:prstGeom>
          <a:solidFill>
            <a:srgbClr val="F5F5EE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44568" y="2802636"/>
            <a:ext cx="310896" cy="10972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800" b="1">
                <a:solidFill>
                  <a:srgbClr val="E8000D"/>
                </a:solidFill>
                <a:latin typeface="Consolas"/>
              </a:rPr>
              <a:t>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07407" y="3063240"/>
            <a:ext cx="3246120" cy="1298448"/>
          </a:xfrm>
          <a:prstGeom prst="roundRect">
            <a:avLst>
              <a:gd name="adj" fmla="val 8000"/>
            </a:avLst>
          </a:prstGeom>
          <a:solidFill>
            <a:srgbClr val="4ECDC4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571999" y="3209544"/>
            <a:ext cx="2916936" cy="310896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1300" b="1">
                <a:solidFill>
                  <a:srgbClr val="111111"/>
                </a:solidFill>
                <a:latin typeface="Malgun Gothic"/>
              </a:rPr>
              <a:t>PR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1999" y="3593592"/>
            <a:ext cx="2916936" cy="64008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900" b="0">
                <a:solidFill>
                  <a:srgbClr val="444444"/>
                </a:solidFill>
                <a:latin typeface="Malgun Gothic"/>
              </a:rPr>
              <a:t>설명은 주장이다. Files changed와 Diff로 실제 변경을 확인한다.</a:t>
            </a:r>
          </a:p>
        </p:txBody>
      </p:sp>
      <p:sp>
        <p:nvSpPr>
          <p:cNvPr id="20" name="Chevron 19"/>
          <p:cNvSpPr/>
          <p:nvPr/>
        </p:nvSpPr>
        <p:spPr>
          <a:xfrm>
            <a:off x="7772400" y="3529584"/>
            <a:ext cx="201168" cy="256032"/>
          </a:xfrm>
          <a:prstGeom prst="chevron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8293608" y="2734056"/>
            <a:ext cx="310896" cy="310896"/>
          </a:xfrm>
          <a:prstGeom prst="ellipse">
            <a:avLst/>
          </a:prstGeom>
          <a:solidFill>
            <a:srgbClr val="F5F5EE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293608" y="2802636"/>
            <a:ext cx="310896" cy="10972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800" b="1">
                <a:solidFill>
                  <a:srgbClr val="E8000D"/>
                </a:solidFill>
                <a:latin typeface="Consolas"/>
              </a:rPr>
              <a:t>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56448" y="3063240"/>
            <a:ext cx="3246120" cy="1298448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321040" y="3209544"/>
            <a:ext cx="2916936" cy="310896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1300" b="1">
                <a:solidFill>
                  <a:srgbClr val="FFFFFF"/>
                </a:solidFill>
                <a:latin typeface="Malgun Gothic"/>
              </a:rPr>
              <a:t>Decision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1040" y="3593592"/>
            <a:ext cx="2916936" cy="64008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900" b="0">
                <a:solidFill>
                  <a:srgbClr val="E6E6E6"/>
                </a:solidFill>
                <a:latin typeface="Malgun Gothic"/>
              </a:rPr>
              <a:t>Checks 결과까지 보고 Merge, Request changes, Hold 중 하나를 고른다.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-marker"/>
          <p:cNvSpPr/>
          <p:nvPr/>
        </p:nvSpPr>
        <p:spPr>
          <a:xfrm>
            <a:off x="438912" y="347472"/>
            <a:ext cx="128016" cy="128016"/>
          </a:xfrm>
          <a:prstGeom prst="rect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kicker-label"/>
          <p:cNvSpPr txBox="1"/>
          <p:nvPr/>
        </p:nvSpPr>
        <p:spPr>
          <a:xfrm>
            <a:off x="676656" y="283464"/>
            <a:ext cx="4206240" cy="256032"/>
          </a:xfrm>
          <a:prstGeom prst="rect">
            <a:avLst/>
          </a:prstGeom>
          <a:noFill/>
        </p:spPr>
        <p:txBody>
          <a:bodyPr wrap="square" lIns="27432" tIns="18288" rIns="27432" bIns="18288" anchor="ctr">
            <a:spAutoFit/>
          </a:bodyPr>
          <a:lstStyle/>
          <a:p>
            <a:r>
              <a:rPr sz="1000" b="1">
                <a:solidFill>
                  <a:srgbClr val="E8000D"/>
                </a:solidFill>
                <a:latin typeface="Consolas"/>
              </a:rPr>
              <a:t>PROTOCOL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" y="822960"/>
            <a:ext cx="2606040" cy="22860"/>
          </a:xfrm>
          <a:prstGeom prst="rect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58368" y="969264"/>
            <a:ext cx="9189720" cy="1060704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2800" b="1">
                <a:solidFill>
                  <a:srgbClr val="111111"/>
                </a:solidFill>
                <a:latin typeface="Malgun Gothic"/>
              </a:rPr>
              <a:t>PR은 네 단계로 읽는다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139696"/>
            <a:ext cx="8823960" cy="65836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1300" b="0">
                <a:solidFill>
                  <a:srgbClr val="444444"/>
                </a:solidFill>
                <a:latin typeface="Malgun Gothic"/>
              </a:rPr>
              <a:t>초보자는 Conversation부터 오래 읽기보다, 먼저 파일 목록과 실제 변경을 확인하면 agent 설명에 끌려가지 않습니다.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41080" y="6492240"/>
            <a:ext cx="2971800" cy="164592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r"/>
            <a:r>
              <a:rPr sz="700" b="0">
                <a:solidFill>
                  <a:srgbClr val="737373"/>
                </a:solidFill>
                <a:latin typeface="Consolas"/>
              </a:rPr>
              <a:t>06 / Design reference: corazzon/pptx-design-styles (MIT)</a:t>
            </a:r>
          </a:p>
        </p:txBody>
      </p:sp>
      <p:sp>
        <p:nvSpPr>
          <p:cNvPr id="8" name="Rectangle 7"/>
          <p:cNvSpPr/>
          <p:nvPr/>
        </p:nvSpPr>
        <p:spPr>
          <a:xfrm>
            <a:off x="859536" y="2898648"/>
            <a:ext cx="10451592" cy="16459"/>
          </a:xfrm>
          <a:prstGeom prst="rect">
            <a:avLst/>
          </a:prstGeom>
          <a:solidFill>
            <a:srgbClr val="C6C6BC"/>
          </a:solidFill>
          <a:ln>
            <a:solidFill>
              <a:srgbClr val="C6C6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795528" y="2734056"/>
            <a:ext cx="310896" cy="310896"/>
          </a:xfrm>
          <a:prstGeom prst="ellipse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95528" y="2802636"/>
            <a:ext cx="310896" cy="10972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onsolas"/>
              </a:rPr>
              <a:t>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063240"/>
            <a:ext cx="2487168" cy="1298448"/>
          </a:xfrm>
          <a:prstGeom prst="roundRect">
            <a:avLst>
              <a:gd name="adj" fmla="val 8000"/>
            </a:avLst>
          </a:prstGeom>
          <a:solidFill>
            <a:srgbClr val="E8FF3B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2959" y="3209544"/>
            <a:ext cx="2157984" cy="310896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1300" b="1">
                <a:solidFill>
                  <a:srgbClr val="111111"/>
                </a:solidFill>
                <a:latin typeface="Malgun Gothic"/>
              </a:rPr>
              <a:t>1 Files changed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59" y="3593592"/>
            <a:ext cx="2157984" cy="64008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800" b="0">
                <a:solidFill>
                  <a:srgbClr val="444444"/>
                </a:solidFill>
                <a:latin typeface="Malgun Gothic"/>
              </a:rPr>
              <a:t>파일 수와 종류가 Issue 범위와 맞는지 먼저 본다.</a:t>
            </a:r>
          </a:p>
        </p:txBody>
      </p:sp>
      <p:sp>
        <p:nvSpPr>
          <p:cNvPr id="14" name="Chevron 13"/>
          <p:cNvSpPr/>
          <p:nvPr/>
        </p:nvSpPr>
        <p:spPr>
          <a:xfrm>
            <a:off x="3264408" y="3529584"/>
            <a:ext cx="201168" cy="256032"/>
          </a:xfrm>
          <a:prstGeom prst="chevron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3584447" y="2734056"/>
            <a:ext cx="310896" cy="310896"/>
          </a:xfrm>
          <a:prstGeom prst="ellipse">
            <a:avLst/>
          </a:prstGeom>
          <a:solidFill>
            <a:srgbClr val="F5F5EE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584447" y="2802636"/>
            <a:ext cx="310896" cy="10972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800" b="1">
                <a:solidFill>
                  <a:srgbClr val="E8000D"/>
                </a:solidFill>
                <a:latin typeface="Consolas"/>
              </a:rPr>
              <a:t>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47287" y="3063240"/>
            <a:ext cx="2487168" cy="12984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611879" y="3209544"/>
            <a:ext cx="2157984" cy="310896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1300" b="1">
                <a:solidFill>
                  <a:srgbClr val="111111"/>
                </a:solidFill>
                <a:latin typeface="Malgun Gothic"/>
              </a:rPr>
              <a:t>2 Diff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1879" y="3593592"/>
            <a:ext cx="2157984" cy="64008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800" b="0">
                <a:solidFill>
                  <a:srgbClr val="444444"/>
                </a:solidFill>
                <a:latin typeface="Malgun Gothic"/>
              </a:rPr>
              <a:t>추가/삭제 줄이 요구를 해결하는지 직접 읽는다.</a:t>
            </a:r>
          </a:p>
        </p:txBody>
      </p:sp>
      <p:sp>
        <p:nvSpPr>
          <p:cNvPr id="20" name="Chevron 19"/>
          <p:cNvSpPr/>
          <p:nvPr/>
        </p:nvSpPr>
        <p:spPr>
          <a:xfrm>
            <a:off x="6053328" y="3529584"/>
            <a:ext cx="201168" cy="256032"/>
          </a:xfrm>
          <a:prstGeom prst="chevron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6373368" y="2734056"/>
            <a:ext cx="310896" cy="310896"/>
          </a:xfrm>
          <a:prstGeom prst="ellipse">
            <a:avLst/>
          </a:prstGeom>
          <a:solidFill>
            <a:srgbClr val="F5F5EE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373368" y="2802636"/>
            <a:ext cx="310896" cy="10972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800" b="1">
                <a:solidFill>
                  <a:srgbClr val="E8000D"/>
                </a:solidFill>
                <a:latin typeface="Consolas"/>
              </a:rPr>
              <a:t>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36207" y="3063240"/>
            <a:ext cx="2487168" cy="1298448"/>
          </a:xfrm>
          <a:prstGeom prst="roundRect">
            <a:avLst>
              <a:gd name="adj" fmla="val 8000"/>
            </a:avLst>
          </a:prstGeom>
          <a:solidFill>
            <a:srgbClr val="4ECDC4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400799" y="3209544"/>
            <a:ext cx="2157984" cy="310896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1300" b="1">
                <a:solidFill>
                  <a:srgbClr val="111111"/>
                </a:solidFill>
                <a:latin typeface="Malgun Gothic"/>
              </a:rPr>
              <a:t>3 Checks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799" y="3593592"/>
            <a:ext cx="2157984" cy="64008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800" b="0">
                <a:solidFill>
                  <a:srgbClr val="444444"/>
                </a:solidFill>
                <a:latin typeface="Malgun Gothic"/>
              </a:rPr>
              <a:t>CI 성공/실패와 실패 로그를 판단 근거로 쓴다.</a:t>
            </a:r>
          </a:p>
        </p:txBody>
      </p:sp>
      <p:sp>
        <p:nvSpPr>
          <p:cNvPr id="26" name="Chevron 25"/>
          <p:cNvSpPr/>
          <p:nvPr/>
        </p:nvSpPr>
        <p:spPr>
          <a:xfrm>
            <a:off x="8842248" y="3529584"/>
            <a:ext cx="201168" cy="256032"/>
          </a:xfrm>
          <a:prstGeom prst="chevron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9162288" y="2734056"/>
            <a:ext cx="310896" cy="310896"/>
          </a:xfrm>
          <a:prstGeom prst="ellipse">
            <a:avLst/>
          </a:prstGeom>
          <a:solidFill>
            <a:srgbClr val="F5F5EE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162288" y="2802636"/>
            <a:ext cx="310896" cy="10972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800" b="1">
                <a:solidFill>
                  <a:srgbClr val="E8000D"/>
                </a:solidFill>
                <a:latin typeface="Consolas"/>
              </a:rPr>
              <a:t>4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025128" y="3063240"/>
            <a:ext cx="2487168" cy="1298448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189719" y="3209544"/>
            <a:ext cx="2157984" cy="310896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1300" b="1">
                <a:solidFill>
                  <a:srgbClr val="FFFFFF"/>
                </a:solidFill>
                <a:latin typeface="Malgun Gothic"/>
              </a:rPr>
              <a:t>4 Decision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89719" y="3593592"/>
            <a:ext cx="2157984" cy="64008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800" b="0">
                <a:solidFill>
                  <a:srgbClr val="E6E6E6"/>
                </a:solidFill>
                <a:latin typeface="Malgun Gothic"/>
              </a:rPr>
              <a:t>내용상 결정을 말하되 수업 Draft PR은 실제 merge하지 않는다.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-marker"/>
          <p:cNvSpPr/>
          <p:nvPr/>
        </p:nvSpPr>
        <p:spPr>
          <a:xfrm>
            <a:off x="438912" y="347472"/>
            <a:ext cx="128016" cy="128016"/>
          </a:xfrm>
          <a:prstGeom prst="rect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kicker-label"/>
          <p:cNvSpPr txBox="1"/>
          <p:nvPr/>
        </p:nvSpPr>
        <p:spPr>
          <a:xfrm>
            <a:off x="676656" y="283464"/>
            <a:ext cx="4206240" cy="256032"/>
          </a:xfrm>
          <a:prstGeom prst="rect">
            <a:avLst/>
          </a:prstGeom>
          <a:noFill/>
        </p:spPr>
        <p:txBody>
          <a:bodyPr wrap="square" lIns="27432" tIns="18288" rIns="27432" bIns="18288" anchor="ctr">
            <a:spAutoFit/>
          </a:bodyPr>
          <a:lstStyle/>
          <a:p>
            <a:r>
              <a:rPr sz="1000" b="1">
                <a:solidFill>
                  <a:srgbClr val="E8000D"/>
                </a:solidFill>
                <a:latin typeface="Consolas"/>
              </a:rPr>
              <a:t>DEMO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" y="822960"/>
            <a:ext cx="2606040" cy="22860"/>
          </a:xfrm>
          <a:prstGeom prst="rect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58368" y="969264"/>
            <a:ext cx="9189720" cy="1060704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2800" b="1">
                <a:solidFill>
                  <a:srgbClr val="111111"/>
                </a:solidFill>
                <a:latin typeface="Malgun Gothic"/>
              </a:rPr>
              <a:t>강사 데모는 Good PR 하나로 진행한다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139696"/>
            <a:ext cx="8823960" cy="65836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1300" b="0">
                <a:solidFill>
                  <a:srgbClr val="444444"/>
                </a:solidFill>
                <a:latin typeface="Malgun Gothic"/>
              </a:rPr>
              <a:t>Good PR 하나로 Issue -&gt; PR -&gt; Files changed -&gt; Checks -&gt; Decision 클릭 흐름을 시연합니다.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41080" y="6492240"/>
            <a:ext cx="2971800" cy="164592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r"/>
            <a:r>
              <a:rPr sz="700" b="0">
                <a:solidFill>
                  <a:srgbClr val="737373"/>
                </a:solidFill>
                <a:latin typeface="Consolas"/>
              </a:rPr>
              <a:t>07 / Design reference: corazzon/pptx-design-styles (MIT)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962656"/>
            <a:ext cx="109728" cy="109728"/>
          </a:xfrm>
          <a:prstGeom prst="rect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69264" y="2880360"/>
            <a:ext cx="5074920" cy="310896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1100" b="0">
                <a:solidFill>
                  <a:srgbClr val="111111"/>
                </a:solidFill>
                <a:latin typeface="Malgun Gothic"/>
              </a:rPr>
              <a:t>Issue 링크를 열고 요구사항을 한 문장으로 줄인다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9808" y="3392424"/>
            <a:ext cx="109728" cy="109728"/>
          </a:xfrm>
          <a:prstGeom prst="rect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69264" y="3310128"/>
            <a:ext cx="5074920" cy="310896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1100" b="0">
                <a:solidFill>
                  <a:srgbClr val="111111"/>
                </a:solidFill>
                <a:latin typeface="Malgun Gothic"/>
              </a:rPr>
              <a:t>Draft 배너는 안전장치로만 설명한다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9808" y="3822191"/>
            <a:ext cx="109728" cy="109728"/>
          </a:xfrm>
          <a:prstGeom prst="rect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69264" y="3739896"/>
            <a:ext cx="5074920" cy="310896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1100" b="0">
                <a:solidFill>
                  <a:srgbClr val="111111"/>
                </a:solidFill>
                <a:latin typeface="Malgun Gothic"/>
              </a:rPr>
              <a:t>Files changed와 Checks 탭을 실제로 눌러 근거를 찾는다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9808" y="4773168"/>
            <a:ext cx="2606040" cy="347472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solidFill>
              <a:srgbClr val="096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59536" y="4846320"/>
            <a:ext cx="2386584" cy="15544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900" b="1">
                <a:solidFill>
                  <a:srgbClr val="0969DA"/>
                </a:solidFill>
                <a:latin typeface="Malgun Gothic"/>
                <a:hlinkClick r:id="rId2"/>
              </a:rPr>
              <a:t>Good PR #8 열기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74920" y="2523744"/>
            <a:ext cx="6537960" cy="3675887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Picture 16" descr="good-pr-overvi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97260" y="2523744"/>
            <a:ext cx="5293278" cy="367588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-marker"/>
          <p:cNvSpPr/>
          <p:nvPr/>
        </p:nvSpPr>
        <p:spPr>
          <a:xfrm>
            <a:off x="438912" y="347472"/>
            <a:ext cx="128016" cy="128016"/>
          </a:xfrm>
          <a:prstGeom prst="rect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kicker-label"/>
          <p:cNvSpPr txBox="1"/>
          <p:nvPr/>
        </p:nvSpPr>
        <p:spPr>
          <a:xfrm>
            <a:off x="676656" y="283464"/>
            <a:ext cx="4206240" cy="256032"/>
          </a:xfrm>
          <a:prstGeom prst="rect">
            <a:avLst/>
          </a:prstGeom>
          <a:noFill/>
        </p:spPr>
        <p:txBody>
          <a:bodyPr wrap="square" lIns="27432" tIns="18288" rIns="27432" bIns="18288" anchor="ctr">
            <a:spAutoFit/>
          </a:bodyPr>
          <a:lstStyle/>
          <a:p>
            <a:r>
              <a:rPr sz="1000" b="1">
                <a:solidFill>
                  <a:srgbClr val="E8000D"/>
                </a:solidFill>
                <a:latin typeface="Consolas"/>
              </a:rPr>
              <a:t>GOOD PR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" y="822960"/>
            <a:ext cx="2606040" cy="22860"/>
          </a:xfrm>
          <a:prstGeom prst="rect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58368" y="969264"/>
            <a:ext cx="9189720" cy="1060704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2800" b="1">
                <a:solidFill>
                  <a:srgbClr val="111111"/>
                </a:solidFill>
                <a:latin typeface="Malgun Gothic"/>
              </a:rPr>
              <a:t>작은 요청, 작은 diff, 통과한 checks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139696"/>
            <a:ext cx="8823960" cy="65836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1300" b="0">
                <a:solidFill>
                  <a:srgbClr val="444444"/>
                </a:solidFill>
                <a:latin typeface="Malgun Gothic"/>
              </a:rPr>
              <a:t>Good PR은 요청 범위 안의 파일만 바뀌고, diff가 설명과 일치하며, checks가 통과한 사례입니다.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41080" y="6492240"/>
            <a:ext cx="2971800" cy="164592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r"/>
            <a:r>
              <a:rPr sz="700" b="0">
                <a:solidFill>
                  <a:srgbClr val="737373"/>
                </a:solidFill>
                <a:latin typeface="Consolas"/>
              </a:rPr>
              <a:t>08 / Design reference: corazzon/pptx-design-styles (MIT)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3328415"/>
            <a:ext cx="109728" cy="109728"/>
          </a:xfrm>
          <a:prstGeom prst="rect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69264" y="3246120"/>
            <a:ext cx="5074920" cy="310896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1100" b="0">
                <a:solidFill>
                  <a:srgbClr val="111111"/>
                </a:solidFill>
                <a:latin typeface="Malgun Gothic"/>
              </a:rPr>
              <a:t>예상 파일: README.md, index.html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9808" y="3758183"/>
            <a:ext cx="109728" cy="109728"/>
          </a:xfrm>
          <a:prstGeom prst="rect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69264" y="3675887"/>
            <a:ext cx="5074920" cy="310896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1100" b="0">
                <a:solidFill>
                  <a:srgbClr val="111111"/>
                </a:solidFill>
                <a:latin typeface="Malgun Gothic"/>
              </a:rPr>
              <a:t>diff가 checklist entry point 추가와 일치한다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9808" y="4187952"/>
            <a:ext cx="109728" cy="109728"/>
          </a:xfrm>
          <a:prstGeom prst="rect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69264" y="4105656"/>
            <a:ext cx="5074920" cy="310896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1100" b="0">
                <a:solidFill>
                  <a:srgbClr val="111111"/>
                </a:solidFill>
                <a:latin typeface="Malgun Gothic"/>
              </a:rPr>
              <a:t>내용상 Merge 판단이지만 수업 Draft PR은 누르지 않는다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9808" y="2788920"/>
            <a:ext cx="1508760" cy="301752"/>
          </a:xfrm>
          <a:prstGeom prst="roundRect">
            <a:avLst>
              <a:gd name="adj" fmla="val 50000"/>
            </a:avLst>
          </a:prstGeom>
          <a:solidFill>
            <a:srgbClr val="1F883D"/>
          </a:solidFill>
          <a:ln>
            <a:solidFill>
              <a:srgbClr val="1F88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86384" y="2843784"/>
            <a:ext cx="1417320" cy="146304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algun Gothic"/>
              </a:rPr>
              <a:t>2 files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487168" y="2788920"/>
            <a:ext cx="1508760" cy="301752"/>
          </a:xfrm>
          <a:prstGeom prst="roundRect">
            <a:avLst>
              <a:gd name="adj" fmla="val 50000"/>
            </a:avLst>
          </a:prstGeom>
          <a:solidFill>
            <a:srgbClr val="1F883D"/>
          </a:solidFill>
          <a:ln>
            <a:solidFill>
              <a:srgbClr val="1F88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523744" y="2843784"/>
            <a:ext cx="1417320" cy="146304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algun Gothic"/>
              </a:rPr>
              <a:t>Checks pass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74920" y="2523744"/>
            <a:ext cx="6537960" cy="3675887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9" name="Picture 18" descr="good-pr-files-chang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7260" y="2523744"/>
            <a:ext cx="5293278" cy="3675887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-marker"/>
          <p:cNvSpPr/>
          <p:nvPr/>
        </p:nvSpPr>
        <p:spPr>
          <a:xfrm>
            <a:off x="438912" y="347472"/>
            <a:ext cx="128016" cy="128016"/>
          </a:xfrm>
          <a:prstGeom prst="rect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kicker-label"/>
          <p:cNvSpPr txBox="1"/>
          <p:nvPr/>
        </p:nvSpPr>
        <p:spPr>
          <a:xfrm>
            <a:off x="676656" y="283464"/>
            <a:ext cx="4206240" cy="256032"/>
          </a:xfrm>
          <a:prstGeom prst="rect">
            <a:avLst/>
          </a:prstGeom>
          <a:noFill/>
        </p:spPr>
        <p:txBody>
          <a:bodyPr wrap="square" lIns="27432" tIns="18288" rIns="27432" bIns="18288" anchor="ctr">
            <a:spAutoFit/>
          </a:bodyPr>
          <a:lstStyle/>
          <a:p>
            <a:r>
              <a:rPr sz="1000" b="1">
                <a:solidFill>
                  <a:srgbClr val="E8000D"/>
                </a:solidFill>
                <a:latin typeface="Consolas"/>
              </a:rPr>
              <a:t>PROBLEM A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" y="822960"/>
            <a:ext cx="2606040" cy="22860"/>
          </a:xfrm>
          <a:prstGeom prst="rect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58368" y="969264"/>
            <a:ext cx="9189720" cy="1060704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2800" b="1">
                <a:solidFill>
                  <a:srgbClr val="111111"/>
                </a:solidFill>
                <a:latin typeface="Malgun Gothic"/>
              </a:rPr>
              <a:t>CI가 통과해도 scope creep이면 Hold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139696"/>
            <a:ext cx="8823960" cy="65836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1300" b="0">
                <a:solidFill>
                  <a:srgbClr val="444444"/>
                </a:solidFill>
                <a:latin typeface="Malgun Gothic"/>
              </a:rPr>
              <a:t>Problem A는 작은 copy 요청처럼 보이지만 styles.css, README, unrelated docs가 같이 바뀐 overbroad PR입니다.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41080" y="6492240"/>
            <a:ext cx="2971800" cy="164592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r"/>
            <a:r>
              <a:rPr sz="700" b="0">
                <a:solidFill>
                  <a:srgbClr val="737373"/>
                </a:solidFill>
                <a:latin typeface="Consolas"/>
              </a:rPr>
              <a:t>09 / Design reference: corazzon/pptx-design-styles (MIT)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3328415"/>
            <a:ext cx="109728" cy="109728"/>
          </a:xfrm>
          <a:prstGeom prst="rect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69264" y="3246120"/>
            <a:ext cx="5074920" cy="310896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1100" b="0">
                <a:solidFill>
                  <a:srgbClr val="111111"/>
                </a:solidFill>
                <a:latin typeface="Malgun Gothic"/>
              </a:rPr>
              <a:t>Issue가 요구하지 않은 파일이 섞였는지 먼저 본다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9808" y="3758183"/>
            <a:ext cx="109728" cy="109728"/>
          </a:xfrm>
          <a:prstGeom prst="rect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69264" y="3675887"/>
            <a:ext cx="5074920" cy="310896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1100" b="0">
                <a:solidFill>
                  <a:srgbClr val="111111"/>
                </a:solidFill>
                <a:latin typeface="Malgun Gothic"/>
              </a:rPr>
              <a:t>초보자는 파일 수 증가를 가장 쉬운 위험 신호로 잡는다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9808" y="4187952"/>
            <a:ext cx="109728" cy="109728"/>
          </a:xfrm>
          <a:prstGeom prst="rect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69264" y="4105656"/>
            <a:ext cx="5074920" cy="310896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1100" b="0">
                <a:solidFill>
                  <a:srgbClr val="111111"/>
                </a:solidFill>
                <a:latin typeface="Malgun Gothic"/>
              </a:rPr>
              <a:t>agent에게 PR을 줄이거나 분리하라고 요청한다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9808" y="2788920"/>
            <a:ext cx="1508760" cy="301752"/>
          </a:xfrm>
          <a:prstGeom prst="roundRect">
            <a:avLst>
              <a:gd name="adj" fmla="val 50000"/>
            </a:avLst>
          </a:prstGeom>
          <a:solidFill>
            <a:srgbClr val="CF222E"/>
          </a:solidFill>
          <a:ln>
            <a:solidFill>
              <a:srgbClr val="CF22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86384" y="2843784"/>
            <a:ext cx="1417320" cy="146304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algun Gothic"/>
              </a:rPr>
              <a:t>4 files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487168" y="2788920"/>
            <a:ext cx="1508760" cy="301752"/>
          </a:xfrm>
          <a:prstGeom prst="roundRect">
            <a:avLst>
              <a:gd name="adj" fmla="val 50000"/>
            </a:avLst>
          </a:prstGeom>
          <a:solidFill>
            <a:srgbClr val="CF222E"/>
          </a:solidFill>
          <a:ln>
            <a:solidFill>
              <a:srgbClr val="CF22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523744" y="2843784"/>
            <a:ext cx="1417320" cy="146304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algun Gothic"/>
              </a:rPr>
              <a:t>Scope creep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74920" y="2523744"/>
            <a:ext cx="6537960" cy="3675887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9" name="Picture 18" descr="problem-a-files-chang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7260" y="2523744"/>
            <a:ext cx="5293278" cy="3675887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-marker"/>
          <p:cNvSpPr/>
          <p:nvPr/>
        </p:nvSpPr>
        <p:spPr>
          <a:xfrm>
            <a:off x="438912" y="347472"/>
            <a:ext cx="128016" cy="128016"/>
          </a:xfrm>
          <a:prstGeom prst="rect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kicker-label"/>
          <p:cNvSpPr txBox="1"/>
          <p:nvPr/>
        </p:nvSpPr>
        <p:spPr>
          <a:xfrm>
            <a:off x="676656" y="283464"/>
            <a:ext cx="4206240" cy="256032"/>
          </a:xfrm>
          <a:prstGeom prst="rect">
            <a:avLst/>
          </a:prstGeom>
          <a:noFill/>
        </p:spPr>
        <p:txBody>
          <a:bodyPr wrap="square" lIns="27432" tIns="18288" rIns="27432" bIns="18288" anchor="ctr">
            <a:spAutoFit/>
          </a:bodyPr>
          <a:lstStyle/>
          <a:p>
            <a:r>
              <a:rPr sz="1000" b="1">
                <a:solidFill>
                  <a:srgbClr val="E8000D"/>
                </a:solidFill>
                <a:latin typeface="Consolas"/>
              </a:rPr>
              <a:t>PROBLEM A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" y="822960"/>
            <a:ext cx="2606040" cy="22860"/>
          </a:xfrm>
          <a:prstGeom prst="rect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58368" y="969264"/>
            <a:ext cx="9189720" cy="1060704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2800" b="1">
                <a:solidFill>
                  <a:srgbClr val="111111"/>
                </a:solidFill>
                <a:latin typeface="Malgun Gothic"/>
              </a:rPr>
              <a:t>Problem A의 Checks는 초록색이어도 충분하지 않다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139696"/>
            <a:ext cx="8823960" cy="65836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1300" b="0">
                <a:solidFill>
                  <a:srgbClr val="444444"/>
                </a:solidFill>
                <a:latin typeface="Malgun Gothic"/>
              </a:rPr>
              <a:t>초록색 checks는 문법과 규칙을 통과했다는 뜻이지, 요청 밖 변경까지 merge해도 된다는 뜻은 아닙니다.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41080" y="6492240"/>
            <a:ext cx="2971800" cy="164592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r"/>
            <a:r>
              <a:rPr sz="700" b="0">
                <a:solidFill>
                  <a:srgbClr val="737373"/>
                </a:solidFill>
                <a:latin typeface="Consolas"/>
              </a:rPr>
              <a:t>10 / Design reference: corazzon/pptx-design-styles (MIT)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3328415"/>
            <a:ext cx="109728" cy="109728"/>
          </a:xfrm>
          <a:prstGeom prst="rect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69264" y="3246120"/>
            <a:ext cx="5074920" cy="310896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1100" b="0">
                <a:solidFill>
                  <a:srgbClr val="111111"/>
                </a:solidFill>
                <a:latin typeface="Malgun Gothic"/>
              </a:rPr>
              <a:t>CI는 자동 검사이고 scope 판단은 사람이 한다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9808" y="3758183"/>
            <a:ext cx="109728" cy="109728"/>
          </a:xfrm>
          <a:prstGeom prst="rect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69264" y="3675887"/>
            <a:ext cx="5074920" cy="310896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1100" b="0">
                <a:solidFill>
                  <a:srgbClr val="111111"/>
                </a:solidFill>
                <a:latin typeface="Malgun Gothic"/>
              </a:rPr>
              <a:t>요청 밖 변경은 checks가 통과해도 보류 근거가 된다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9808" y="4187952"/>
            <a:ext cx="109728" cy="109728"/>
          </a:xfrm>
          <a:prstGeom prst="rect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69264" y="4105656"/>
            <a:ext cx="5074920" cy="310896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1100" b="0">
                <a:solidFill>
                  <a:srgbClr val="111111"/>
                </a:solidFill>
                <a:latin typeface="Malgun Gothic"/>
              </a:rPr>
              <a:t>수정 요청 문장에는 '어떤 파일을 제외할지'를 적는다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9808" y="2788920"/>
            <a:ext cx="1508760" cy="301752"/>
          </a:xfrm>
          <a:prstGeom prst="roundRect">
            <a:avLst>
              <a:gd name="adj" fmla="val 50000"/>
            </a:avLst>
          </a:prstGeom>
          <a:solidFill>
            <a:srgbClr val="1F883D"/>
          </a:solidFill>
          <a:ln>
            <a:solidFill>
              <a:srgbClr val="1F88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86384" y="2843784"/>
            <a:ext cx="1417320" cy="146304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algun Gothic"/>
              </a:rPr>
              <a:t>Checks pass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487168" y="2788920"/>
            <a:ext cx="1508760" cy="301752"/>
          </a:xfrm>
          <a:prstGeom prst="roundRect">
            <a:avLst>
              <a:gd name="adj" fmla="val 50000"/>
            </a:avLst>
          </a:prstGeom>
          <a:solidFill>
            <a:srgbClr val="CF222E"/>
          </a:solidFill>
          <a:ln>
            <a:solidFill>
              <a:srgbClr val="CF22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523744" y="2843784"/>
            <a:ext cx="1417320" cy="146304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algun Gothic"/>
              </a:rPr>
              <a:t>Still Hold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74920" y="2523744"/>
            <a:ext cx="6537960" cy="3675887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9" name="Picture 18" descr="problem-a-check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7260" y="2523744"/>
            <a:ext cx="5293278" cy="3675887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-marker"/>
          <p:cNvSpPr/>
          <p:nvPr/>
        </p:nvSpPr>
        <p:spPr>
          <a:xfrm>
            <a:off x="438912" y="347472"/>
            <a:ext cx="128016" cy="128016"/>
          </a:xfrm>
          <a:prstGeom prst="rect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kicker-label"/>
          <p:cNvSpPr txBox="1"/>
          <p:nvPr/>
        </p:nvSpPr>
        <p:spPr>
          <a:xfrm>
            <a:off x="676656" y="283464"/>
            <a:ext cx="4206240" cy="256032"/>
          </a:xfrm>
          <a:prstGeom prst="rect">
            <a:avLst/>
          </a:prstGeom>
          <a:noFill/>
        </p:spPr>
        <p:txBody>
          <a:bodyPr wrap="square" lIns="27432" tIns="18288" rIns="27432" bIns="18288" anchor="ctr">
            <a:spAutoFit/>
          </a:bodyPr>
          <a:lstStyle/>
          <a:p>
            <a:r>
              <a:rPr sz="1000" b="1">
                <a:solidFill>
                  <a:srgbClr val="E8000D"/>
                </a:solidFill>
                <a:latin typeface="Consolas"/>
              </a:rPr>
              <a:t>PROBLEM B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" y="822960"/>
            <a:ext cx="2606040" cy="22860"/>
          </a:xfrm>
          <a:prstGeom prst="rect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58368" y="969264"/>
            <a:ext cx="9189720" cy="1060704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2800" b="1">
                <a:solidFill>
                  <a:srgbClr val="111111"/>
                </a:solidFill>
                <a:latin typeface="Malgun Gothic"/>
              </a:rPr>
              <a:t>CI 실패와 training secret marker는 Hold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139696"/>
            <a:ext cx="8823960" cy="65836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1300" b="0">
                <a:solidFill>
                  <a:srgbClr val="444444"/>
                </a:solidFill>
                <a:latin typeface="Malgun Gothic"/>
              </a:rPr>
              <a:t>Problem B는 .env와 TRAINING_SECRET_DO_NOT_USE가 보이고 checks도 실패하므로, 값 공유 없이 즉시 보류합니다.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41080" y="6492240"/>
            <a:ext cx="2971800" cy="164592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r"/>
            <a:r>
              <a:rPr sz="700" b="0">
                <a:solidFill>
                  <a:srgbClr val="737373"/>
                </a:solidFill>
                <a:latin typeface="Consolas"/>
              </a:rPr>
              <a:t>11 / Design reference: corazzon/pptx-design-styles (MIT)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3328415"/>
            <a:ext cx="109728" cy="109728"/>
          </a:xfrm>
          <a:prstGeom prst="rect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69264" y="3246120"/>
            <a:ext cx="5074920" cy="310896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1100" b="0">
                <a:solidFill>
                  <a:srgbClr val="111111"/>
                </a:solidFill>
                <a:latin typeface="Malgun Gothic"/>
              </a:rPr>
              <a:t>.env 파일은 요청과 무관해도 고위험 신호로 본다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9808" y="3758183"/>
            <a:ext cx="109728" cy="109728"/>
          </a:xfrm>
          <a:prstGeom prst="rect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69264" y="3675887"/>
            <a:ext cx="5074920" cy="310896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1100" b="0">
                <a:solidFill>
                  <a:srgbClr val="111111"/>
                </a:solidFill>
                <a:latin typeface="Malgun Gothic"/>
              </a:rPr>
              <a:t>secret-like 값은 comment나 채팅에 다시 쓰지 않는다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9808" y="4187952"/>
            <a:ext cx="109728" cy="109728"/>
          </a:xfrm>
          <a:prstGeom prst="rect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69264" y="4105656"/>
            <a:ext cx="5074920" cy="310896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1100" b="0">
                <a:solidFill>
                  <a:srgbClr val="111111"/>
                </a:solidFill>
                <a:latin typeface="Malgun Gothic"/>
              </a:rPr>
              <a:t>삭제뿐 아니라 history 노출 확인까지 요청한다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9808" y="2788920"/>
            <a:ext cx="1508760" cy="301752"/>
          </a:xfrm>
          <a:prstGeom prst="roundRect">
            <a:avLst>
              <a:gd name="adj" fmla="val 50000"/>
            </a:avLst>
          </a:prstGeom>
          <a:solidFill>
            <a:srgbClr val="CF222E"/>
          </a:solidFill>
          <a:ln>
            <a:solidFill>
              <a:srgbClr val="CF22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86384" y="2843784"/>
            <a:ext cx="1417320" cy="146304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algun Gothic"/>
              </a:rPr>
              <a:t>.env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487168" y="2788920"/>
            <a:ext cx="1508760" cy="301752"/>
          </a:xfrm>
          <a:prstGeom prst="roundRect">
            <a:avLst>
              <a:gd name="adj" fmla="val 50000"/>
            </a:avLst>
          </a:prstGeom>
          <a:solidFill>
            <a:srgbClr val="CF222E"/>
          </a:solidFill>
          <a:ln>
            <a:solidFill>
              <a:srgbClr val="CF22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523744" y="2843784"/>
            <a:ext cx="1417320" cy="146304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algun Gothic"/>
              </a:rPr>
              <a:t>Do not copy value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74920" y="2523744"/>
            <a:ext cx="6537960" cy="3675887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9" name="Picture 18" descr="problem-b-files-chang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7260" y="2523744"/>
            <a:ext cx="5293278" cy="3675887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-marker"/>
          <p:cNvSpPr/>
          <p:nvPr/>
        </p:nvSpPr>
        <p:spPr>
          <a:xfrm>
            <a:off x="438912" y="347472"/>
            <a:ext cx="128016" cy="128016"/>
          </a:xfrm>
          <a:prstGeom prst="rect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kicker-label"/>
          <p:cNvSpPr txBox="1"/>
          <p:nvPr/>
        </p:nvSpPr>
        <p:spPr>
          <a:xfrm>
            <a:off x="676656" y="283464"/>
            <a:ext cx="4206240" cy="256032"/>
          </a:xfrm>
          <a:prstGeom prst="rect">
            <a:avLst/>
          </a:prstGeom>
          <a:noFill/>
        </p:spPr>
        <p:txBody>
          <a:bodyPr wrap="square" lIns="27432" tIns="18288" rIns="27432" bIns="18288" anchor="ctr">
            <a:spAutoFit/>
          </a:bodyPr>
          <a:lstStyle/>
          <a:p>
            <a:r>
              <a:rPr sz="1000" b="1">
                <a:solidFill>
                  <a:srgbClr val="E8000D"/>
                </a:solidFill>
                <a:latin typeface="Consolas"/>
              </a:rPr>
              <a:t>PROBLEM B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" y="822960"/>
            <a:ext cx="2606040" cy="22860"/>
          </a:xfrm>
          <a:prstGeom prst="rect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58368" y="969264"/>
            <a:ext cx="9189720" cy="1060704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2800" b="1">
                <a:solidFill>
                  <a:srgbClr val="111111"/>
                </a:solidFill>
                <a:latin typeface="Malgun Gothic"/>
              </a:rPr>
              <a:t>Problem B의 Checks 실패는 merge 중단 신호다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139696"/>
            <a:ext cx="8823960" cy="65836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1300" b="0">
                <a:solidFill>
                  <a:srgbClr val="444444"/>
                </a:solidFill>
                <a:latin typeface="Malgun Gothic"/>
              </a:rPr>
              <a:t>Checks 실패는 agent가 필수 marker를 지웠거나 보안 규칙을 깼다는 신호일 수 있으므로, 실패 로그를 근거로 수정 요청합니다.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41080" y="6492240"/>
            <a:ext cx="2971800" cy="164592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r"/>
            <a:r>
              <a:rPr sz="700" b="0">
                <a:solidFill>
                  <a:srgbClr val="737373"/>
                </a:solidFill>
                <a:latin typeface="Consolas"/>
              </a:rPr>
              <a:t>12 / Design reference: corazzon/pptx-design-styles (MIT)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3328415"/>
            <a:ext cx="109728" cy="109728"/>
          </a:xfrm>
          <a:prstGeom prst="rect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69264" y="3246120"/>
            <a:ext cx="5074920" cy="310896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1100" b="0">
                <a:solidFill>
                  <a:srgbClr val="111111"/>
                </a:solidFill>
                <a:latin typeface="Malgun Gothic"/>
              </a:rPr>
              <a:t>실패한 workflow 이름과 로그의 핵심 한 줄을 찾는다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9808" y="3758183"/>
            <a:ext cx="109728" cy="109728"/>
          </a:xfrm>
          <a:prstGeom prst="rect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69264" y="3675887"/>
            <a:ext cx="5074920" cy="310896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1100" b="0">
                <a:solidFill>
                  <a:srgbClr val="111111"/>
                </a:solidFill>
                <a:latin typeface="Malgun Gothic"/>
              </a:rPr>
              <a:t>값 자체가 아니라 실패 원인과 복구 요청을 적는다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9808" y="4187952"/>
            <a:ext cx="109728" cy="109728"/>
          </a:xfrm>
          <a:prstGeom prst="rect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69264" y="4105656"/>
            <a:ext cx="5074920" cy="310896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1100" b="0">
                <a:solidFill>
                  <a:srgbClr val="111111"/>
                </a:solidFill>
                <a:latin typeface="Malgun Gothic"/>
              </a:rPr>
              <a:t>CI가 다시 초록색이 되기 전에는 merge 판단을 보류한다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9808" y="2788920"/>
            <a:ext cx="1508760" cy="301752"/>
          </a:xfrm>
          <a:prstGeom prst="roundRect">
            <a:avLst>
              <a:gd name="adj" fmla="val 50000"/>
            </a:avLst>
          </a:prstGeom>
          <a:solidFill>
            <a:srgbClr val="CF222E"/>
          </a:solidFill>
          <a:ln>
            <a:solidFill>
              <a:srgbClr val="CF22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86384" y="2843784"/>
            <a:ext cx="1417320" cy="146304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algun Gothic"/>
              </a:rPr>
              <a:t>Checks fail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487168" y="2788920"/>
            <a:ext cx="1508760" cy="301752"/>
          </a:xfrm>
          <a:prstGeom prst="roundRect">
            <a:avLst>
              <a:gd name="adj" fmla="val 50000"/>
            </a:avLst>
          </a:prstGeom>
          <a:solidFill>
            <a:srgbClr val="CF222E"/>
          </a:solidFill>
          <a:ln>
            <a:solidFill>
              <a:srgbClr val="CF22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523744" y="2843784"/>
            <a:ext cx="1417320" cy="146304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algun Gothic"/>
              </a:rPr>
              <a:t>Request changes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74920" y="2523744"/>
            <a:ext cx="6537960" cy="3675887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9" name="Picture 18" descr="problem-b-checks-fail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7260" y="2523744"/>
            <a:ext cx="5293278" cy="3675887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-marker"/>
          <p:cNvSpPr/>
          <p:nvPr/>
        </p:nvSpPr>
        <p:spPr>
          <a:xfrm>
            <a:off x="438912" y="347472"/>
            <a:ext cx="128016" cy="128016"/>
          </a:xfrm>
          <a:prstGeom prst="rect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kicker-label"/>
          <p:cNvSpPr txBox="1"/>
          <p:nvPr/>
        </p:nvSpPr>
        <p:spPr>
          <a:xfrm>
            <a:off x="676656" y="283464"/>
            <a:ext cx="4206240" cy="256032"/>
          </a:xfrm>
          <a:prstGeom prst="rect">
            <a:avLst/>
          </a:prstGeom>
          <a:noFill/>
        </p:spPr>
        <p:txBody>
          <a:bodyPr wrap="square" lIns="27432" tIns="18288" rIns="27432" bIns="18288" anchor="ctr">
            <a:spAutoFit/>
          </a:bodyPr>
          <a:lstStyle/>
          <a:p>
            <a:r>
              <a:rPr sz="1000" b="1">
                <a:solidFill>
                  <a:srgbClr val="E8000D"/>
                </a:solidFill>
                <a:latin typeface="Consolas"/>
              </a:rPr>
              <a:t>CI/CD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" y="822960"/>
            <a:ext cx="2606040" cy="22860"/>
          </a:xfrm>
          <a:prstGeom prst="rect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58368" y="969264"/>
            <a:ext cx="9189720" cy="1060704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2800" b="1">
                <a:solidFill>
                  <a:srgbClr val="111111"/>
                </a:solidFill>
                <a:latin typeface="Malgun Gothic"/>
              </a:rPr>
              <a:t>CI는 깊게, CD는 짧게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139696"/>
            <a:ext cx="8823960" cy="65836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1300" b="0">
                <a:solidFill>
                  <a:srgbClr val="444444"/>
                </a:solidFill>
                <a:latin typeface="Malgun Gothic"/>
              </a:rPr>
              <a:t>이번 수업의 핵심은 PR마다 돌아가는 CI를 판단 근거로 읽는 것입니다. CD는 merge 뒤 배포 자동화라는 구분만 짚습니다.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41080" y="6492240"/>
            <a:ext cx="2971800" cy="164592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r"/>
            <a:r>
              <a:rPr sz="700" b="0">
                <a:solidFill>
                  <a:srgbClr val="737373"/>
                </a:solidFill>
                <a:latin typeface="Consolas"/>
              </a:rPr>
              <a:t>13 / Design reference: corazzon/pptx-design-styles (MIT)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971800"/>
            <a:ext cx="3246120" cy="1417320"/>
          </a:xfrm>
          <a:prstGeom prst="roundRect">
            <a:avLst>
              <a:gd name="adj" fmla="val 8000"/>
            </a:avLst>
          </a:prstGeom>
          <a:solidFill>
            <a:srgbClr val="E8FF3B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59" y="3118104"/>
            <a:ext cx="2916936" cy="310896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1300" b="1">
                <a:solidFill>
                  <a:srgbClr val="111111"/>
                </a:solidFill>
                <a:latin typeface="Malgun Gothic"/>
              </a:rPr>
              <a:t>CI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502152"/>
            <a:ext cx="2916936" cy="758952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900" b="0">
                <a:solidFill>
                  <a:srgbClr val="444444"/>
                </a:solidFill>
                <a:latin typeface="Malgun Gothic"/>
              </a:rPr>
              <a:t>PR마다 자동 검사: marker, secret-like 문자열, page title 같은 규칙을 merge 전에 확인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07407" y="2971800"/>
            <a:ext cx="3246120" cy="1417320"/>
          </a:xfrm>
          <a:prstGeom prst="roundRect">
            <a:avLst>
              <a:gd name="adj" fmla="val 8000"/>
            </a:avLst>
          </a:prstGeom>
          <a:solidFill>
            <a:srgbClr val="4ECDC4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71999" y="3118104"/>
            <a:ext cx="2916936" cy="310896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1300" b="1">
                <a:solidFill>
                  <a:srgbClr val="111111"/>
                </a:solidFill>
                <a:latin typeface="Malgun Gothic"/>
              </a:rPr>
              <a:t>Checks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1999" y="3502152"/>
            <a:ext cx="2916936" cy="758952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900" b="0">
                <a:solidFill>
                  <a:srgbClr val="444444"/>
                </a:solidFill>
                <a:latin typeface="Malgun Gothic"/>
              </a:rPr>
              <a:t>GitHub PR 화면에서 workflow 성공/실패와 실패 로그를 확인하는 영역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56448" y="2971800"/>
            <a:ext cx="324612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321040" y="3118104"/>
            <a:ext cx="2916936" cy="310896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1300" b="1">
                <a:solidFill>
                  <a:srgbClr val="111111"/>
                </a:solidFill>
                <a:latin typeface="Malgun Gothic"/>
              </a:rPr>
              <a:t>CD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3502152"/>
            <a:ext cx="2916936" cy="758952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900" b="0">
                <a:solidFill>
                  <a:srgbClr val="444444"/>
                </a:solidFill>
                <a:latin typeface="Malgun Gothic"/>
              </a:rPr>
              <a:t>merge 뒤 자동 배포하는 흐름. 이번 실습에서는 누르거나 설정하지 않고 용어만 구분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-marker"/>
          <p:cNvSpPr/>
          <p:nvPr/>
        </p:nvSpPr>
        <p:spPr>
          <a:xfrm>
            <a:off x="438912" y="347472"/>
            <a:ext cx="128016" cy="128016"/>
          </a:xfrm>
          <a:prstGeom prst="rect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kicker-label"/>
          <p:cNvSpPr txBox="1"/>
          <p:nvPr/>
        </p:nvSpPr>
        <p:spPr>
          <a:xfrm>
            <a:off x="676656" y="283464"/>
            <a:ext cx="4206240" cy="256032"/>
          </a:xfrm>
          <a:prstGeom prst="rect">
            <a:avLst/>
          </a:prstGeom>
          <a:noFill/>
        </p:spPr>
        <p:txBody>
          <a:bodyPr wrap="square" lIns="27432" tIns="18288" rIns="27432" bIns="18288" anchor="ctr">
            <a:spAutoFit/>
          </a:bodyPr>
          <a:lstStyle/>
          <a:p>
            <a:r>
              <a:rPr sz="1000" b="1">
                <a:solidFill>
                  <a:srgbClr val="E8000D"/>
                </a:solidFill>
                <a:latin typeface="Consolas"/>
              </a:rPr>
              <a:t>DECISION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" y="822960"/>
            <a:ext cx="2606040" cy="22860"/>
          </a:xfrm>
          <a:prstGeom prst="rect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58368" y="969264"/>
            <a:ext cx="9189720" cy="1060704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2800" b="1">
                <a:solidFill>
                  <a:srgbClr val="111111"/>
                </a:solidFill>
                <a:latin typeface="Malgun Gothic"/>
              </a:rPr>
              <a:t>Hold는 GitHub 버튼이 아니다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139696"/>
            <a:ext cx="8823960" cy="65836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1300" b="0">
                <a:solidFill>
                  <a:srgbClr val="444444"/>
                </a:solidFill>
                <a:latin typeface="Malgun Gothic"/>
              </a:rPr>
              <a:t>Merge, Request changes, Hold는 결과만 다른 것이 아니라 필요한 근거와 GitHub에서 할 행동이 다릅니다.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41080" y="6492240"/>
            <a:ext cx="2971800" cy="164592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r"/>
            <a:r>
              <a:rPr sz="700" b="0">
                <a:solidFill>
                  <a:srgbClr val="737373"/>
                </a:solidFill>
                <a:latin typeface="Consolas"/>
              </a:rPr>
              <a:t>14 / Design reference: corazzon/pptx-design-styles (MIT)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971800"/>
            <a:ext cx="3246120" cy="1417320"/>
          </a:xfrm>
          <a:prstGeom prst="roundRect">
            <a:avLst>
              <a:gd name="adj" fmla="val 8000"/>
            </a:avLst>
          </a:prstGeom>
          <a:solidFill>
            <a:srgbClr val="4ECDC4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59" y="3118104"/>
            <a:ext cx="2916936" cy="310896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1300" b="1">
                <a:solidFill>
                  <a:srgbClr val="111111"/>
                </a:solidFill>
                <a:latin typeface="Malgun Gothic"/>
              </a:rPr>
              <a:t>Merge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502152"/>
            <a:ext cx="2916936" cy="758952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900" b="0">
                <a:solidFill>
                  <a:srgbClr val="444444"/>
                </a:solidFill>
                <a:latin typeface="Malgun Gothic"/>
              </a:rPr>
              <a:t>요청과 diff가 일치하고 checks가 통과한다. 실제 PR이라면 합칠 수 있다.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07407" y="2971800"/>
            <a:ext cx="3246120" cy="1417320"/>
          </a:xfrm>
          <a:prstGeom prst="roundRect">
            <a:avLst>
              <a:gd name="adj" fmla="val 8000"/>
            </a:avLst>
          </a:prstGeom>
          <a:solidFill>
            <a:srgbClr val="E8FF3B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71999" y="3118104"/>
            <a:ext cx="2916936" cy="310896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1300" b="1">
                <a:solidFill>
                  <a:srgbClr val="111111"/>
                </a:solidFill>
                <a:latin typeface="Malgun Gothic"/>
              </a:rPr>
              <a:t>Request changes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1999" y="3502152"/>
            <a:ext cx="2916936" cy="758952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900" b="0">
                <a:solidFill>
                  <a:srgbClr val="444444"/>
                </a:solidFill>
                <a:latin typeface="Malgun Gothic"/>
              </a:rPr>
              <a:t>방향은 맞지만 수정 지점이 명확하다. 파일명과 요청을 comment로 남긴다.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56448" y="2971800"/>
            <a:ext cx="3246120" cy="141732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321040" y="3118104"/>
            <a:ext cx="2916936" cy="310896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1300" b="1">
                <a:solidFill>
                  <a:srgbClr val="FFFFFF"/>
                </a:solidFill>
                <a:latin typeface="Malgun Gothic"/>
              </a:rPr>
              <a:t>Hold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3502152"/>
            <a:ext cx="2916936" cy="758952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900" b="0">
                <a:solidFill>
                  <a:srgbClr val="E6E6E6"/>
                </a:solidFill>
                <a:latin typeface="Malgun Gothic"/>
              </a:rPr>
              <a:t>범위나 보안 위험이 커서 approve하지 않는다. 필요한 경우 blocking comment를 쓴다.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-marker"/>
          <p:cNvSpPr/>
          <p:nvPr/>
        </p:nvSpPr>
        <p:spPr>
          <a:xfrm>
            <a:off x="438912" y="347472"/>
            <a:ext cx="128016" cy="128016"/>
          </a:xfrm>
          <a:prstGeom prst="rect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kicker-label"/>
          <p:cNvSpPr txBox="1"/>
          <p:nvPr/>
        </p:nvSpPr>
        <p:spPr>
          <a:xfrm>
            <a:off x="676656" y="283464"/>
            <a:ext cx="4206240" cy="256032"/>
          </a:xfrm>
          <a:prstGeom prst="rect">
            <a:avLst/>
          </a:prstGeom>
          <a:noFill/>
        </p:spPr>
        <p:txBody>
          <a:bodyPr wrap="square" lIns="27432" tIns="18288" rIns="27432" bIns="18288" anchor="ctr">
            <a:spAutoFit/>
          </a:bodyPr>
          <a:lstStyle/>
          <a:p>
            <a:r>
              <a:rPr sz="1000" b="1">
                <a:solidFill>
                  <a:srgbClr val="E8000D"/>
                </a:solidFill>
                <a:latin typeface="Consolas"/>
              </a:rPr>
              <a:t>COMMENT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" y="822960"/>
            <a:ext cx="2606040" cy="22860"/>
          </a:xfrm>
          <a:prstGeom prst="rect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58368" y="969264"/>
            <a:ext cx="9189720" cy="1060704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2800" b="1">
                <a:solidFill>
                  <a:srgbClr val="111111"/>
                </a:solidFill>
                <a:latin typeface="Malgun Gothic"/>
              </a:rPr>
              <a:t>좋은 agent comment는 위치, 근거, 요청을 담는다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139696"/>
            <a:ext cx="8823960" cy="65836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1300" b="0">
                <a:solidFill>
                  <a:srgbClr val="444444"/>
                </a:solidFill>
                <a:latin typeface="Malgun Gothic"/>
              </a:rPr>
              <a:t>초보자도 바로 쓸 수 있게, comment는 '어디에서 봤는지 + 왜 문제인지 + 무엇을 고칠지' 한 문장으로 끝냅니다.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41080" y="6492240"/>
            <a:ext cx="2971800" cy="164592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r"/>
            <a:r>
              <a:rPr sz="700" b="0">
                <a:solidFill>
                  <a:srgbClr val="737373"/>
                </a:solidFill>
                <a:latin typeface="Consolas"/>
              </a:rPr>
              <a:t>15 / Design reference: corazzon/pptx-design-styles (MIT)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962656"/>
            <a:ext cx="109728" cy="109728"/>
          </a:xfrm>
          <a:prstGeom prst="rect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69264" y="2880360"/>
            <a:ext cx="5074920" cy="310896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1100" b="0">
                <a:solidFill>
                  <a:srgbClr val="111111"/>
                </a:solidFill>
                <a:latin typeface="Malgun Gothic"/>
              </a:rPr>
              <a:t>위치: Files changed의 파일명, diff 줄, 또는 실패한 Checks 이름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9808" y="3392424"/>
            <a:ext cx="109728" cy="109728"/>
          </a:xfrm>
          <a:prstGeom prst="rect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69264" y="3310128"/>
            <a:ext cx="5074920" cy="310896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1100" b="0">
                <a:solidFill>
                  <a:srgbClr val="111111"/>
                </a:solidFill>
                <a:latin typeface="Malgun Gothic"/>
              </a:rPr>
              <a:t>근거: Issue 범위 불일치, 불필요한 파일 변경, 실패 로그 중 하나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9808" y="3822191"/>
            <a:ext cx="109728" cy="109728"/>
          </a:xfrm>
          <a:prstGeom prst="rect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69264" y="3739896"/>
            <a:ext cx="5074920" cy="310896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1100" b="0">
                <a:solidFill>
                  <a:srgbClr val="111111"/>
                </a:solidFill>
                <a:latin typeface="Malgun Gothic"/>
              </a:rPr>
              <a:t>요청: 삭제, 분리, CI 복구처럼 agent가 실행할 행동으로 끝낸다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9808" y="4251959"/>
            <a:ext cx="109728" cy="109728"/>
          </a:xfrm>
          <a:prstGeom prst="rect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69264" y="4169663"/>
            <a:ext cx="5074920" cy="310896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1100" b="0">
                <a:solidFill>
                  <a:srgbClr val="111111"/>
                </a:solidFill>
                <a:latin typeface="Malgun Gothic"/>
              </a:rPr>
              <a:t>예: styles.css 변경은 요청 밖입니다. 이 PR에서 제외하거나 별도 PR로 나눠 주세요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9808" y="4681727"/>
            <a:ext cx="109728" cy="109728"/>
          </a:xfrm>
          <a:prstGeom prst="rect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69264" y="4599431"/>
            <a:ext cx="5074920" cy="310896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1100" b="0">
                <a:solidFill>
                  <a:srgbClr val="111111"/>
                </a:solidFill>
                <a:latin typeface="Malgun Gothic"/>
              </a:rPr>
              <a:t>주의: secret-like 값은 comment에 복사하지 않는다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-marker"/>
          <p:cNvSpPr/>
          <p:nvPr/>
        </p:nvSpPr>
        <p:spPr>
          <a:xfrm>
            <a:off x="438912" y="347472"/>
            <a:ext cx="128016" cy="128016"/>
          </a:xfrm>
          <a:prstGeom prst="rect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kicker-label"/>
          <p:cNvSpPr txBox="1"/>
          <p:nvPr/>
        </p:nvSpPr>
        <p:spPr>
          <a:xfrm>
            <a:off x="676656" y="283464"/>
            <a:ext cx="4206240" cy="256032"/>
          </a:xfrm>
          <a:prstGeom prst="rect">
            <a:avLst/>
          </a:prstGeom>
          <a:noFill/>
        </p:spPr>
        <p:txBody>
          <a:bodyPr wrap="square" lIns="27432" tIns="18288" rIns="27432" bIns="18288" anchor="ctr">
            <a:spAutoFit/>
          </a:bodyPr>
          <a:lstStyle/>
          <a:p>
            <a:r>
              <a:rPr sz="1000" b="1">
                <a:solidFill>
                  <a:srgbClr val="E8000D"/>
                </a:solidFill>
                <a:latin typeface="Consolas"/>
              </a:rPr>
              <a:t>WORKTREE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" y="822960"/>
            <a:ext cx="2606040" cy="22860"/>
          </a:xfrm>
          <a:prstGeom prst="rect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58368" y="969264"/>
            <a:ext cx="9189720" cy="1060704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2800" b="1">
                <a:solidFill>
                  <a:srgbClr val="111111"/>
                </a:solidFill>
                <a:latin typeface="Malgun Gothic"/>
              </a:rPr>
              <a:t>AI agent별 작업공간을 분리하면 PR 검토가 쉬워진다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139696"/>
            <a:ext cx="8823960" cy="65836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1300" b="0">
                <a:solidFill>
                  <a:srgbClr val="444444"/>
                </a:solidFill>
                <a:latin typeface="Malgun Gothic"/>
              </a:rPr>
              <a:t>여러 agent가 같은 폴더를 만지면 diff가 섞입니다. worktree + branch + PR로 나누면 사람은 PR 단위로만 판단하면 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41080" y="6492240"/>
            <a:ext cx="2971800" cy="164592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r"/>
            <a:r>
              <a:rPr sz="700" b="0">
                <a:solidFill>
                  <a:srgbClr val="737373"/>
                </a:solidFill>
                <a:latin typeface="Consolas"/>
              </a:rPr>
              <a:t>16 / Design reference: corazzon/pptx-design-styles (MIT)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971800"/>
            <a:ext cx="324612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59" y="3118104"/>
            <a:ext cx="2916936" cy="310896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1300" b="1">
                <a:solidFill>
                  <a:srgbClr val="111111"/>
                </a:solidFill>
                <a:latin typeface="Malgun Gothic"/>
              </a:rPr>
              <a:t>기존 방식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502152"/>
            <a:ext cx="2916936" cy="758952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900" b="0">
                <a:solidFill>
                  <a:srgbClr val="444444"/>
                </a:solidFill>
                <a:latin typeface="Malgun Gothic"/>
              </a:rPr>
              <a:t>한 폴더에서 diff, stash, branch 전환으로 여러 agent 결과를 관리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07407" y="2971800"/>
            <a:ext cx="3246120" cy="1417320"/>
          </a:xfrm>
          <a:prstGeom prst="roundRect">
            <a:avLst>
              <a:gd name="adj" fmla="val 8000"/>
            </a:avLst>
          </a:prstGeom>
          <a:solidFill>
            <a:srgbClr val="FF6B6B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71999" y="3118104"/>
            <a:ext cx="2916936" cy="310896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1300" b="1">
                <a:solidFill>
                  <a:srgbClr val="111111"/>
                </a:solidFill>
                <a:latin typeface="Malgun Gothic"/>
              </a:rPr>
              <a:t>문제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1999" y="3502152"/>
            <a:ext cx="2916936" cy="758952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900" b="0">
                <a:solidFill>
                  <a:srgbClr val="444444"/>
                </a:solidFill>
                <a:latin typeface="Malgun Gothic"/>
              </a:rPr>
              <a:t>어느 agent가 어떤 파일을 바꿨는지 흐려지고, 검토 전 workspace가 지저분해짐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56448" y="2971800"/>
            <a:ext cx="3246120" cy="1417320"/>
          </a:xfrm>
          <a:prstGeom prst="roundRect">
            <a:avLst>
              <a:gd name="adj" fmla="val 8000"/>
            </a:avLst>
          </a:prstGeom>
          <a:solidFill>
            <a:srgbClr val="4ECDC4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321040" y="3118104"/>
            <a:ext cx="2916936" cy="310896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1300" b="1">
                <a:solidFill>
                  <a:srgbClr val="111111"/>
                </a:solidFill>
                <a:latin typeface="Malgun Gothic"/>
              </a:rPr>
              <a:t>worktree 방식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3502152"/>
            <a:ext cx="2916936" cy="758952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900" b="0">
                <a:solidFill>
                  <a:srgbClr val="444444"/>
                </a:solidFill>
                <a:latin typeface="Malgun Gothic"/>
              </a:rPr>
              <a:t>agent마다 별도 폴더와 branch를 주고 결과를 독립 PR로 검토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-marker"/>
          <p:cNvSpPr/>
          <p:nvPr/>
        </p:nvSpPr>
        <p:spPr>
          <a:xfrm>
            <a:off x="438912" y="347472"/>
            <a:ext cx="128016" cy="128016"/>
          </a:xfrm>
          <a:prstGeom prst="rect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kicker-label"/>
          <p:cNvSpPr txBox="1"/>
          <p:nvPr/>
        </p:nvSpPr>
        <p:spPr>
          <a:xfrm>
            <a:off x="676656" y="283464"/>
            <a:ext cx="4206240" cy="256032"/>
          </a:xfrm>
          <a:prstGeom prst="rect">
            <a:avLst/>
          </a:prstGeom>
          <a:noFill/>
        </p:spPr>
        <p:txBody>
          <a:bodyPr wrap="square" lIns="27432" tIns="18288" rIns="27432" bIns="18288" anchor="ctr">
            <a:spAutoFit/>
          </a:bodyPr>
          <a:lstStyle/>
          <a:p>
            <a:r>
              <a:rPr sz="1000" b="1">
                <a:solidFill>
                  <a:srgbClr val="E8000D"/>
                </a:solidFill>
                <a:latin typeface="Consolas"/>
              </a:rPr>
              <a:t>WORKTREE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" y="822960"/>
            <a:ext cx="2606040" cy="22860"/>
          </a:xfrm>
          <a:prstGeom prst="rect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58368" y="969264"/>
            <a:ext cx="9189720" cy="1060704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2800" b="1">
                <a:solidFill>
                  <a:srgbClr val="111111"/>
                </a:solidFill>
                <a:latin typeface="Malgun Gothic"/>
              </a:rPr>
              <a:t>Worktree는 명령 암기가 아니라 운영 패턴이다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139696"/>
            <a:ext cx="8823960" cy="65836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1300" b="0">
                <a:solidFill>
                  <a:srgbClr val="444444"/>
                </a:solidFill>
                <a:latin typeface="Malgun Gothic"/>
              </a:rPr>
              <a:t>도구가 Codex든 Claude Code든 Antigravity든, agent별 폴더와 branch를 분리해 PR 단위로 검토한다는 원리는 같습니다.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41080" y="6492240"/>
            <a:ext cx="2971800" cy="164592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r"/>
            <a:r>
              <a:rPr sz="700" b="0">
                <a:solidFill>
                  <a:srgbClr val="737373"/>
                </a:solidFill>
                <a:latin typeface="Consolas"/>
              </a:rPr>
              <a:t>17 / Design reference: corazzon/pptx-design-styles (MIT)</a:t>
            </a:r>
          </a:p>
        </p:txBody>
      </p:sp>
      <p:sp>
        <p:nvSpPr>
          <p:cNvPr id="8" name="Rectangle 7"/>
          <p:cNvSpPr/>
          <p:nvPr/>
        </p:nvSpPr>
        <p:spPr>
          <a:xfrm>
            <a:off x="859536" y="2898648"/>
            <a:ext cx="10341864" cy="16459"/>
          </a:xfrm>
          <a:prstGeom prst="rect">
            <a:avLst/>
          </a:prstGeom>
          <a:solidFill>
            <a:srgbClr val="C6C6BC"/>
          </a:solidFill>
          <a:ln>
            <a:solidFill>
              <a:srgbClr val="C6C6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795528" y="2734056"/>
            <a:ext cx="310896" cy="310896"/>
          </a:xfrm>
          <a:prstGeom prst="ellipse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95528" y="2802636"/>
            <a:ext cx="310896" cy="10972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onsolas"/>
              </a:rPr>
              <a:t>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063240"/>
            <a:ext cx="3246120" cy="1298448"/>
          </a:xfrm>
          <a:prstGeom prst="roundRect">
            <a:avLst>
              <a:gd name="adj" fmla="val 8000"/>
            </a:avLst>
          </a:prstGeom>
          <a:solidFill>
            <a:srgbClr val="E8FF3B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2959" y="3209544"/>
            <a:ext cx="2916936" cy="310896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1300" b="1">
                <a:solidFill>
                  <a:srgbClr val="111111"/>
                </a:solidFill>
                <a:latin typeface="Malgun Gothic"/>
              </a:rPr>
              <a:t>Agent 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59" y="3593592"/>
            <a:ext cx="2916936" cy="64008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900" b="0">
                <a:solidFill>
                  <a:srgbClr val="444444"/>
                </a:solidFill>
                <a:latin typeface="Malgun Gothic"/>
              </a:rPr>
              <a:t>worktree A에서 branch A 작업 후 PR A로 제출</a:t>
            </a:r>
          </a:p>
        </p:txBody>
      </p:sp>
      <p:sp>
        <p:nvSpPr>
          <p:cNvPr id="14" name="Chevron 13"/>
          <p:cNvSpPr/>
          <p:nvPr/>
        </p:nvSpPr>
        <p:spPr>
          <a:xfrm>
            <a:off x="4023359" y="3529584"/>
            <a:ext cx="201168" cy="256032"/>
          </a:xfrm>
          <a:prstGeom prst="chevron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4544568" y="2734056"/>
            <a:ext cx="310896" cy="310896"/>
          </a:xfrm>
          <a:prstGeom prst="ellipse">
            <a:avLst/>
          </a:prstGeom>
          <a:solidFill>
            <a:srgbClr val="F5F5EE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44568" y="2802636"/>
            <a:ext cx="310896" cy="10972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800" b="1">
                <a:solidFill>
                  <a:srgbClr val="E8000D"/>
                </a:solidFill>
                <a:latin typeface="Consolas"/>
              </a:rPr>
              <a:t>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07407" y="3063240"/>
            <a:ext cx="3246120" cy="1298448"/>
          </a:xfrm>
          <a:prstGeom prst="roundRect">
            <a:avLst>
              <a:gd name="adj" fmla="val 8000"/>
            </a:avLst>
          </a:prstGeom>
          <a:solidFill>
            <a:srgbClr val="4ECDC4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571999" y="3209544"/>
            <a:ext cx="2916936" cy="310896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1300" b="1">
                <a:solidFill>
                  <a:srgbClr val="111111"/>
                </a:solidFill>
                <a:latin typeface="Malgun Gothic"/>
              </a:rPr>
              <a:t>Agent 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1999" y="3593592"/>
            <a:ext cx="2916936" cy="64008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900" b="0">
                <a:solidFill>
                  <a:srgbClr val="444444"/>
                </a:solidFill>
                <a:latin typeface="Malgun Gothic"/>
              </a:rPr>
              <a:t>worktree B에서 branch B 작업 후 PR B로 제출</a:t>
            </a:r>
          </a:p>
        </p:txBody>
      </p:sp>
      <p:sp>
        <p:nvSpPr>
          <p:cNvPr id="20" name="Chevron 19"/>
          <p:cNvSpPr/>
          <p:nvPr/>
        </p:nvSpPr>
        <p:spPr>
          <a:xfrm>
            <a:off x="7772400" y="3529584"/>
            <a:ext cx="201168" cy="256032"/>
          </a:xfrm>
          <a:prstGeom prst="chevron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8293608" y="2734056"/>
            <a:ext cx="310896" cy="310896"/>
          </a:xfrm>
          <a:prstGeom prst="ellipse">
            <a:avLst/>
          </a:prstGeom>
          <a:solidFill>
            <a:srgbClr val="F5F5EE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293608" y="2802636"/>
            <a:ext cx="310896" cy="10972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800" b="1">
                <a:solidFill>
                  <a:srgbClr val="E8000D"/>
                </a:solidFill>
                <a:latin typeface="Consolas"/>
              </a:rPr>
              <a:t>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56448" y="3063240"/>
            <a:ext cx="3246120" cy="1298448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321040" y="3209544"/>
            <a:ext cx="2916936" cy="310896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1300" b="1">
                <a:solidFill>
                  <a:srgbClr val="FFFFFF"/>
                </a:solidFill>
                <a:latin typeface="Malgun Gothic"/>
              </a:rPr>
              <a:t>Human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1040" y="3593592"/>
            <a:ext cx="2916936" cy="64008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900" b="0">
                <a:solidFill>
                  <a:srgbClr val="E6E6E6"/>
                </a:solidFill>
                <a:latin typeface="Malgun Gothic"/>
              </a:rPr>
              <a:t>PR별 Files changed, Diff, Checks를 따로 판정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-marker"/>
          <p:cNvSpPr/>
          <p:nvPr/>
        </p:nvSpPr>
        <p:spPr>
          <a:xfrm>
            <a:off x="438912" y="347472"/>
            <a:ext cx="128016" cy="128016"/>
          </a:xfrm>
          <a:prstGeom prst="rect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kicker-label"/>
          <p:cNvSpPr txBox="1"/>
          <p:nvPr/>
        </p:nvSpPr>
        <p:spPr>
          <a:xfrm>
            <a:off x="676656" y="283464"/>
            <a:ext cx="4206240" cy="256032"/>
          </a:xfrm>
          <a:prstGeom prst="rect">
            <a:avLst/>
          </a:prstGeom>
          <a:noFill/>
        </p:spPr>
        <p:txBody>
          <a:bodyPr wrap="square" lIns="27432" tIns="18288" rIns="27432" bIns="18288" anchor="ctr">
            <a:spAutoFit/>
          </a:bodyPr>
          <a:lstStyle/>
          <a:p>
            <a:r>
              <a:rPr sz="1000" b="1">
                <a:solidFill>
                  <a:srgbClr val="E8000D"/>
                </a:solidFill>
                <a:latin typeface="Consolas"/>
              </a:rPr>
              <a:t>WORKTREE SETUP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" y="822960"/>
            <a:ext cx="2606040" cy="22860"/>
          </a:xfrm>
          <a:prstGeom prst="rect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58368" y="969264"/>
            <a:ext cx="9189720" cy="1060704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2800" b="1">
                <a:solidFill>
                  <a:srgbClr val="111111"/>
                </a:solidFill>
                <a:latin typeface="Malgun Gothic"/>
              </a:rPr>
              <a:t>Git worktree 생성은 세 줄로 표준화한다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139696"/>
            <a:ext cx="9418320" cy="23698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1300" b="0" dirty="0" err="1">
                <a:solidFill>
                  <a:srgbClr val="444444"/>
                </a:solidFill>
                <a:latin typeface="Malgun Gothic"/>
              </a:rPr>
              <a:t>핵심은</a:t>
            </a:r>
            <a:r>
              <a:rPr sz="1300" b="0" dirty="0">
                <a:solidFill>
                  <a:srgbClr val="444444"/>
                </a:solidFill>
                <a:latin typeface="Malgun Gothic"/>
              </a:rPr>
              <a:t> </a:t>
            </a:r>
            <a:r>
              <a:rPr sz="1300" b="0" dirty="0" err="1">
                <a:solidFill>
                  <a:srgbClr val="444444"/>
                </a:solidFill>
                <a:latin typeface="Malgun Gothic"/>
              </a:rPr>
              <a:t>같은</a:t>
            </a:r>
            <a:r>
              <a:rPr sz="1300" b="0" dirty="0">
                <a:solidFill>
                  <a:srgbClr val="444444"/>
                </a:solidFill>
                <a:latin typeface="Malgun Gothic"/>
              </a:rPr>
              <a:t> </a:t>
            </a:r>
            <a:r>
              <a:rPr sz="1300" b="0" dirty="0" err="1">
                <a:solidFill>
                  <a:srgbClr val="444444"/>
                </a:solidFill>
                <a:latin typeface="Malgun Gothic"/>
              </a:rPr>
              <a:t>repo에서</a:t>
            </a:r>
            <a:r>
              <a:rPr sz="1300" b="0" dirty="0">
                <a:solidFill>
                  <a:srgbClr val="444444"/>
                </a:solidFill>
                <a:latin typeface="Malgun Gothic"/>
              </a:rPr>
              <a:t> </a:t>
            </a:r>
            <a:r>
              <a:rPr sz="1300" b="0" dirty="0" err="1">
                <a:solidFill>
                  <a:srgbClr val="444444"/>
                </a:solidFill>
                <a:latin typeface="Malgun Gothic"/>
              </a:rPr>
              <a:t>agent별</a:t>
            </a:r>
            <a:r>
              <a:rPr sz="1300" b="0" dirty="0">
                <a:solidFill>
                  <a:srgbClr val="444444"/>
                </a:solidFill>
                <a:latin typeface="Malgun Gothic"/>
              </a:rPr>
              <a:t> </a:t>
            </a:r>
            <a:r>
              <a:rPr sz="1300" b="0" dirty="0" err="1">
                <a:solidFill>
                  <a:srgbClr val="444444"/>
                </a:solidFill>
                <a:latin typeface="Malgun Gothic"/>
              </a:rPr>
              <a:t>작업</a:t>
            </a:r>
            <a:r>
              <a:rPr sz="1300" b="0" dirty="0">
                <a:solidFill>
                  <a:srgbClr val="444444"/>
                </a:solidFill>
                <a:latin typeface="Malgun Gothic"/>
              </a:rPr>
              <a:t> </a:t>
            </a:r>
            <a:r>
              <a:rPr sz="1300" b="0" dirty="0" err="1">
                <a:solidFill>
                  <a:srgbClr val="444444"/>
                </a:solidFill>
                <a:latin typeface="Malgun Gothic"/>
              </a:rPr>
              <a:t>폴더와</a:t>
            </a:r>
            <a:r>
              <a:rPr sz="1300" b="0" dirty="0">
                <a:solidFill>
                  <a:srgbClr val="444444"/>
                </a:solidFill>
                <a:latin typeface="Malgun Gothic"/>
              </a:rPr>
              <a:t> </a:t>
            </a:r>
            <a:r>
              <a:rPr sz="1300" b="0" dirty="0" err="1">
                <a:solidFill>
                  <a:srgbClr val="444444"/>
                </a:solidFill>
                <a:latin typeface="Malgun Gothic"/>
              </a:rPr>
              <a:t>branch를</a:t>
            </a:r>
            <a:r>
              <a:rPr sz="1300" b="0" dirty="0">
                <a:solidFill>
                  <a:srgbClr val="444444"/>
                </a:solidFill>
                <a:latin typeface="Malgun Gothic"/>
              </a:rPr>
              <a:t> </a:t>
            </a:r>
            <a:r>
              <a:rPr sz="1300" b="0" dirty="0" err="1">
                <a:solidFill>
                  <a:srgbClr val="444444"/>
                </a:solidFill>
                <a:latin typeface="Malgun Gothic"/>
              </a:rPr>
              <a:t>동시에</a:t>
            </a:r>
            <a:r>
              <a:rPr sz="1300" b="0" dirty="0">
                <a:solidFill>
                  <a:srgbClr val="444444"/>
                </a:solidFill>
                <a:latin typeface="Malgun Gothic"/>
              </a:rPr>
              <a:t> </a:t>
            </a:r>
            <a:r>
              <a:rPr sz="1300" b="0" dirty="0" err="1">
                <a:solidFill>
                  <a:srgbClr val="444444"/>
                </a:solidFill>
                <a:latin typeface="Malgun Gothic"/>
              </a:rPr>
              <a:t>만드는</a:t>
            </a:r>
            <a:r>
              <a:rPr sz="1300" b="0" dirty="0">
                <a:solidFill>
                  <a:srgbClr val="444444"/>
                </a:solidFill>
                <a:latin typeface="Malgun Gothic"/>
              </a:rPr>
              <a:t> </a:t>
            </a:r>
            <a:r>
              <a:rPr sz="1300" b="0" dirty="0" err="1">
                <a:solidFill>
                  <a:srgbClr val="444444"/>
                </a:solidFill>
                <a:latin typeface="Malgun Gothic"/>
              </a:rPr>
              <a:t>것입니다</a:t>
            </a:r>
            <a:r>
              <a:rPr sz="1300" b="0" dirty="0">
                <a:solidFill>
                  <a:srgbClr val="444444"/>
                </a:solidFill>
                <a:latin typeface="Malgun Gothic"/>
              </a:rPr>
              <a:t>. </a:t>
            </a:r>
            <a:r>
              <a:rPr sz="1300" b="0" dirty="0" err="1">
                <a:solidFill>
                  <a:srgbClr val="444444"/>
                </a:solidFill>
                <a:latin typeface="Malgun Gothic"/>
              </a:rPr>
              <a:t>main을</a:t>
            </a:r>
            <a:r>
              <a:rPr sz="1300" b="0" dirty="0">
                <a:solidFill>
                  <a:srgbClr val="444444"/>
                </a:solidFill>
                <a:latin typeface="Malgun Gothic"/>
              </a:rPr>
              <a:t> </a:t>
            </a:r>
            <a:r>
              <a:rPr sz="1300" b="0" dirty="0" err="1">
                <a:solidFill>
                  <a:srgbClr val="444444"/>
                </a:solidFill>
                <a:latin typeface="Malgun Gothic"/>
              </a:rPr>
              <a:t>더럽히지</a:t>
            </a:r>
            <a:r>
              <a:rPr sz="1300" b="0" dirty="0">
                <a:solidFill>
                  <a:srgbClr val="444444"/>
                </a:solidFill>
                <a:latin typeface="Malgun Gothic"/>
              </a:rPr>
              <a:t> </a:t>
            </a:r>
            <a:r>
              <a:rPr sz="1300" b="0" dirty="0" err="1">
                <a:solidFill>
                  <a:srgbClr val="444444"/>
                </a:solidFill>
                <a:latin typeface="Malgun Gothic"/>
              </a:rPr>
              <a:t>않고</a:t>
            </a:r>
            <a:r>
              <a:rPr sz="1300" b="0" dirty="0">
                <a:solidFill>
                  <a:srgbClr val="444444"/>
                </a:solidFill>
                <a:latin typeface="Malgun Gothic"/>
              </a:rPr>
              <a:t> </a:t>
            </a:r>
            <a:r>
              <a:rPr sz="1300" b="0" dirty="0" err="1">
                <a:solidFill>
                  <a:srgbClr val="444444"/>
                </a:solidFill>
                <a:latin typeface="Malgun Gothic"/>
              </a:rPr>
              <a:t>결과를</a:t>
            </a:r>
            <a:r>
              <a:rPr sz="1300" b="0" dirty="0">
                <a:solidFill>
                  <a:srgbClr val="444444"/>
                </a:solidFill>
                <a:latin typeface="Malgun Gothic"/>
              </a:rPr>
              <a:t> </a:t>
            </a:r>
            <a:r>
              <a:rPr sz="1300" b="0" dirty="0" err="1">
                <a:solidFill>
                  <a:srgbClr val="444444"/>
                </a:solidFill>
                <a:latin typeface="Malgun Gothic"/>
              </a:rPr>
              <a:t>PR로</a:t>
            </a:r>
            <a:r>
              <a:rPr sz="1300" b="0" dirty="0">
                <a:solidFill>
                  <a:srgbClr val="444444"/>
                </a:solidFill>
                <a:latin typeface="Malgun Gothic"/>
              </a:rPr>
              <a:t> </a:t>
            </a:r>
            <a:r>
              <a:rPr sz="1300" b="0" dirty="0" err="1">
                <a:solidFill>
                  <a:srgbClr val="444444"/>
                </a:solidFill>
                <a:latin typeface="Malgun Gothic"/>
              </a:rPr>
              <a:t>올립니다</a:t>
            </a:r>
            <a:r>
              <a:rPr sz="1300" b="0" dirty="0">
                <a:solidFill>
                  <a:srgbClr val="444444"/>
                </a:solidFill>
                <a:latin typeface="Malgun Gothic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41080" y="6492240"/>
            <a:ext cx="2971800" cy="164592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r"/>
            <a:r>
              <a:rPr sz="700" b="0">
                <a:solidFill>
                  <a:srgbClr val="737373"/>
                </a:solidFill>
                <a:latin typeface="Consolas"/>
              </a:rPr>
              <a:t>18 / Design reference: corazzon/pptx-design-styles (MIT)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816352"/>
            <a:ext cx="3246120" cy="2084831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59" y="2962656"/>
            <a:ext cx="2916936" cy="256032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1300" b="1">
                <a:solidFill>
                  <a:srgbClr val="111111"/>
                </a:solidFill>
                <a:latin typeface="Malgun Gothic"/>
              </a:rPr>
              <a:t>1 최신 기준 확인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346704"/>
            <a:ext cx="2916936" cy="1426463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900" b="0">
                <a:solidFill>
                  <a:srgbClr val="444444"/>
                </a:solidFill>
                <a:latin typeface="Consolas"/>
              </a:rPr>
              <a:t>git fetch origin
git switch main
git pull --ff-only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07407" y="2816352"/>
            <a:ext cx="3246120" cy="2084831"/>
          </a:xfrm>
          <a:prstGeom prst="roundRect">
            <a:avLst>
              <a:gd name="adj" fmla="val 6000"/>
            </a:avLst>
          </a:prstGeom>
          <a:solidFill>
            <a:srgbClr val="E8FF3B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71999" y="2962656"/>
            <a:ext cx="2916936" cy="256032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1300" b="1">
                <a:solidFill>
                  <a:srgbClr val="111111"/>
                </a:solidFill>
                <a:latin typeface="Malgun Gothic"/>
              </a:rPr>
              <a:t>2 agent별 worktree 생성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1999" y="3346704"/>
            <a:ext cx="2916936" cy="1426463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900" b="0">
                <a:solidFill>
                  <a:srgbClr val="444444"/>
                </a:solidFill>
                <a:latin typeface="Consolas"/>
              </a:rPr>
              <a:t>git worktree add .worktrees/&lt;tool&gt;-&lt;task&gt; \
  -b &lt;tool&gt;/&lt;task&gt; main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56448" y="2816352"/>
            <a:ext cx="3246120" cy="2084831"/>
          </a:xfrm>
          <a:prstGeom prst="roundRect">
            <a:avLst>
              <a:gd name="adj" fmla="val 6000"/>
            </a:avLst>
          </a:prstGeom>
          <a:solidFill>
            <a:srgbClr val="1A1A2E"/>
          </a:solidFill>
          <a:ln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321040" y="2962656"/>
            <a:ext cx="2916936" cy="256032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1300" b="1">
                <a:solidFill>
                  <a:srgbClr val="FFFFFF"/>
                </a:solidFill>
                <a:latin typeface="Malgun Gothic"/>
              </a:rPr>
              <a:t>3 해당 폴더에서 agent 실행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3346704"/>
            <a:ext cx="2916936" cy="1426463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900" b="0">
                <a:solidFill>
                  <a:srgbClr val="E8E8E8"/>
                </a:solidFill>
                <a:latin typeface="Consolas"/>
              </a:rPr>
              <a:t>cd .worktrees/&lt;tool&gt;-&lt;task&gt;
# Codex / Claude Code / Antigravity
# 모두 이 폴더를 workspace로 사용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-marker"/>
          <p:cNvSpPr/>
          <p:nvPr/>
        </p:nvSpPr>
        <p:spPr>
          <a:xfrm>
            <a:off x="438912" y="347472"/>
            <a:ext cx="128016" cy="128016"/>
          </a:xfrm>
          <a:prstGeom prst="rect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kicker-label"/>
          <p:cNvSpPr txBox="1"/>
          <p:nvPr/>
        </p:nvSpPr>
        <p:spPr>
          <a:xfrm>
            <a:off x="676656" y="283464"/>
            <a:ext cx="4206240" cy="256032"/>
          </a:xfrm>
          <a:prstGeom prst="rect">
            <a:avLst/>
          </a:prstGeom>
          <a:noFill/>
        </p:spPr>
        <p:txBody>
          <a:bodyPr wrap="square" lIns="27432" tIns="18288" rIns="27432" bIns="18288" anchor="ctr">
            <a:spAutoFit/>
          </a:bodyPr>
          <a:lstStyle/>
          <a:p>
            <a:r>
              <a:rPr sz="1000" b="1">
                <a:solidFill>
                  <a:srgbClr val="E8000D"/>
                </a:solidFill>
                <a:latin typeface="Consolas"/>
              </a:rPr>
              <a:t>WORKTREE SETUP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" y="822960"/>
            <a:ext cx="2606040" cy="22860"/>
          </a:xfrm>
          <a:prstGeom prst="rect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58368" y="969264"/>
            <a:ext cx="9189720" cy="1060704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2800" b="1">
                <a:solidFill>
                  <a:srgbClr val="111111"/>
                </a:solidFill>
                <a:latin typeface="Malgun Gothic"/>
              </a:rPr>
              <a:t>Codex, Claude Code, Antigravity는 이름만 다르게 쓴다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139696"/>
            <a:ext cx="8823960" cy="65836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1300" b="0">
                <a:solidFill>
                  <a:srgbClr val="444444"/>
                </a:solidFill>
                <a:latin typeface="Malgun Gothic"/>
              </a:rPr>
              <a:t>도구마다 실행 UI는 달라도 Git 관점의 격리 방식은 같습니다. 폴더명과 branch prefix만 일관되게 정합니다.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41080" y="6492240"/>
            <a:ext cx="2971800" cy="164592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r"/>
            <a:r>
              <a:rPr sz="700" b="0">
                <a:solidFill>
                  <a:srgbClr val="737373"/>
                </a:solidFill>
                <a:latin typeface="Consolas"/>
              </a:rPr>
              <a:t>19 / Design reference: corazzon/pptx-design-styles (MIT)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971800"/>
            <a:ext cx="3246120" cy="1417320"/>
          </a:xfrm>
          <a:prstGeom prst="roundRect">
            <a:avLst>
              <a:gd name="adj" fmla="val 8000"/>
            </a:avLst>
          </a:prstGeom>
          <a:solidFill>
            <a:srgbClr val="E8FF3B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59" y="3118104"/>
            <a:ext cx="2916936" cy="310896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1300" b="1">
                <a:solidFill>
                  <a:srgbClr val="111111"/>
                </a:solidFill>
                <a:latin typeface="Malgun Gothic"/>
              </a:rPr>
              <a:t>Codex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502152"/>
            <a:ext cx="2916936" cy="758952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900" b="0">
                <a:solidFill>
                  <a:srgbClr val="444444"/>
                </a:solidFill>
                <a:latin typeface="Malgun Gothic"/>
              </a:rPr>
              <a:t>.worktrees/codex-pr-checklist
branch: codex/pr-checklist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07407" y="2971800"/>
            <a:ext cx="3246120" cy="1417320"/>
          </a:xfrm>
          <a:prstGeom prst="roundRect">
            <a:avLst>
              <a:gd name="adj" fmla="val 8000"/>
            </a:avLst>
          </a:prstGeom>
          <a:solidFill>
            <a:srgbClr val="4ECDC4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71999" y="3118104"/>
            <a:ext cx="2916936" cy="310896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1300" b="1">
                <a:solidFill>
                  <a:srgbClr val="111111"/>
                </a:solidFill>
                <a:latin typeface="Malgun Gothic"/>
              </a:rPr>
              <a:t>Claude Code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1999" y="3502152"/>
            <a:ext cx="2916936" cy="758952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900" b="0">
                <a:solidFill>
                  <a:srgbClr val="444444"/>
                </a:solidFill>
                <a:latin typeface="Malgun Gothic"/>
              </a:rPr>
              <a:t>.worktrees/claude-copy-fix
branch: claude/copy-fix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56448" y="2971800"/>
            <a:ext cx="3246120" cy="141732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321040" y="3118104"/>
            <a:ext cx="2916936" cy="310896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1300" b="1">
                <a:solidFill>
                  <a:srgbClr val="FFFFFF"/>
                </a:solidFill>
                <a:latin typeface="Malgun Gothic"/>
              </a:rPr>
              <a:t>Antigravity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3502152"/>
            <a:ext cx="2916936" cy="758952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900" b="0">
                <a:solidFill>
                  <a:srgbClr val="E6E6E6"/>
                </a:solidFill>
                <a:latin typeface="Malgun Gothic"/>
              </a:rPr>
              <a:t>.worktrees/antigravity-ci-fix
branch: antigravity/ci-fix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-marker"/>
          <p:cNvSpPr/>
          <p:nvPr/>
        </p:nvSpPr>
        <p:spPr>
          <a:xfrm>
            <a:off x="438912" y="347472"/>
            <a:ext cx="128016" cy="128016"/>
          </a:xfrm>
          <a:prstGeom prst="rect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kicker-label"/>
          <p:cNvSpPr txBox="1"/>
          <p:nvPr/>
        </p:nvSpPr>
        <p:spPr>
          <a:xfrm>
            <a:off x="676656" y="283464"/>
            <a:ext cx="4206240" cy="256032"/>
          </a:xfrm>
          <a:prstGeom prst="rect">
            <a:avLst/>
          </a:prstGeom>
          <a:noFill/>
        </p:spPr>
        <p:txBody>
          <a:bodyPr wrap="square" lIns="27432" tIns="18288" rIns="27432" bIns="18288" anchor="ctr">
            <a:spAutoFit/>
          </a:bodyPr>
          <a:lstStyle/>
          <a:p>
            <a:r>
              <a:rPr sz="1000" b="1">
                <a:solidFill>
                  <a:srgbClr val="E8000D"/>
                </a:solidFill>
                <a:latin typeface="Consolas"/>
              </a:rPr>
              <a:t>PRACTICE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" y="822960"/>
            <a:ext cx="2606040" cy="22860"/>
          </a:xfrm>
          <a:prstGeom prst="rect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58368" y="969264"/>
            <a:ext cx="9189720" cy="1060704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2800" b="1">
                <a:solidFill>
                  <a:srgbClr val="111111"/>
                </a:solidFill>
                <a:latin typeface="Malgun Gothic"/>
              </a:rPr>
              <a:t>개인 실습: Good PR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139696"/>
            <a:ext cx="8823960" cy="65836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1300" b="0">
                <a:solidFill>
                  <a:srgbClr val="444444"/>
                </a:solidFill>
                <a:latin typeface="Malgun Gothic"/>
              </a:rPr>
              <a:t>혼자서 Good PR을 열고, merge 가능하다는 근거를 화면에서 직접 찾아 exit ticket 초안으로 적습니다.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41080" y="6492240"/>
            <a:ext cx="2971800" cy="164592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r"/>
            <a:r>
              <a:rPr sz="700" b="0">
                <a:solidFill>
                  <a:srgbClr val="737373"/>
                </a:solidFill>
                <a:latin typeface="Consolas"/>
              </a:rPr>
              <a:t>20 / Design reference: corazzon/pptx-design-styles (MIT)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962656"/>
            <a:ext cx="109728" cy="109728"/>
          </a:xfrm>
          <a:prstGeom prst="rect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69264" y="2880360"/>
            <a:ext cx="5074920" cy="310896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1100" b="0">
                <a:solidFill>
                  <a:srgbClr val="111111"/>
                </a:solidFill>
                <a:latin typeface="Malgun Gothic"/>
              </a:rPr>
              <a:t>변경 파일 수와 파일명을 말한다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9808" y="3392424"/>
            <a:ext cx="109728" cy="109728"/>
          </a:xfrm>
          <a:prstGeom prst="rect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69264" y="3310128"/>
            <a:ext cx="5074920" cy="310896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1100" b="0">
                <a:solidFill>
                  <a:srgbClr val="111111"/>
                </a:solidFill>
                <a:latin typeface="Malgun Gothic"/>
              </a:rPr>
              <a:t>diff가 Issue와 일치하는지 한 문장으로 설명한다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9808" y="3822191"/>
            <a:ext cx="109728" cy="109728"/>
          </a:xfrm>
          <a:prstGeom prst="rect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69264" y="3739896"/>
            <a:ext cx="5074920" cy="310896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1100" b="0">
                <a:solidFill>
                  <a:srgbClr val="111111"/>
                </a:solidFill>
                <a:latin typeface="Malgun Gothic"/>
              </a:rPr>
              <a:t>Checks 상태가 통과인지 확인한다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9808" y="4251959"/>
            <a:ext cx="109728" cy="109728"/>
          </a:xfrm>
          <a:prstGeom prst="rect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69264" y="4169663"/>
            <a:ext cx="5074920" cy="310896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1100" b="0">
                <a:solidFill>
                  <a:srgbClr val="111111"/>
                </a:solidFill>
                <a:latin typeface="Malgun Gothic"/>
              </a:rPr>
              <a:t>내용상 Merge 판단인지 말하되 실제 Draft PR은 merge하지 않는다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9808" y="4773168"/>
            <a:ext cx="2606040" cy="347472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solidFill>
              <a:srgbClr val="096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59536" y="4846320"/>
            <a:ext cx="2386584" cy="15544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900" b="1">
                <a:solidFill>
                  <a:srgbClr val="0969DA"/>
                </a:solidFill>
                <a:latin typeface="Malgun Gothic"/>
                <a:hlinkClick r:id="rId2"/>
              </a:rPr>
              <a:t>Good PR #8 열기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-marker"/>
          <p:cNvSpPr/>
          <p:nvPr/>
        </p:nvSpPr>
        <p:spPr>
          <a:xfrm>
            <a:off x="438912" y="347472"/>
            <a:ext cx="128016" cy="128016"/>
          </a:xfrm>
          <a:prstGeom prst="rect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kicker-label"/>
          <p:cNvSpPr txBox="1"/>
          <p:nvPr/>
        </p:nvSpPr>
        <p:spPr>
          <a:xfrm>
            <a:off x="676656" y="283464"/>
            <a:ext cx="4206240" cy="256032"/>
          </a:xfrm>
          <a:prstGeom prst="rect">
            <a:avLst/>
          </a:prstGeom>
          <a:noFill/>
        </p:spPr>
        <p:txBody>
          <a:bodyPr wrap="square" lIns="27432" tIns="18288" rIns="27432" bIns="18288" anchor="ctr">
            <a:spAutoFit/>
          </a:bodyPr>
          <a:lstStyle/>
          <a:p>
            <a:r>
              <a:rPr sz="1000" b="1">
                <a:solidFill>
                  <a:srgbClr val="E8000D"/>
                </a:solidFill>
                <a:latin typeface="Consolas"/>
              </a:rPr>
              <a:t>PRACTICE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" y="822960"/>
            <a:ext cx="2606040" cy="22860"/>
          </a:xfrm>
          <a:prstGeom prst="rect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58368" y="969264"/>
            <a:ext cx="9189720" cy="1060704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2800" b="1">
                <a:solidFill>
                  <a:srgbClr val="111111"/>
                </a:solidFill>
                <a:latin typeface="Malgun Gothic"/>
              </a:rPr>
              <a:t>페어 실습: Problem A와 Problem 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139696"/>
            <a:ext cx="8823960" cy="65836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1300" b="0">
                <a:solidFill>
                  <a:srgbClr val="444444"/>
                </a:solidFill>
                <a:latin typeface="Malgun Gothic"/>
              </a:rPr>
              <a:t>둘이 역할을 나눠 한 명은 Files changed와 Diff를, 한 명은 Checks를 보고 왜 Hold인지 근거를 합칩니다.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41080" y="6492240"/>
            <a:ext cx="2971800" cy="164592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r"/>
            <a:r>
              <a:rPr sz="700" b="0">
                <a:solidFill>
                  <a:srgbClr val="737373"/>
                </a:solidFill>
                <a:latin typeface="Consolas"/>
              </a:rPr>
              <a:t>21 / Design reference: corazzon/pptx-design-styles (MIT)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962656"/>
            <a:ext cx="109728" cy="109728"/>
          </a:xfrm>
          <a:prstGeom prst="rect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69264" y="2880360"/>
            <a:ext cx="5074920" cy="310896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1100" b="0">
                <a:solidFill>
                  <a:srgbClr val="111111"/>
                </a:solidFill>
                <a:latin typeface="Malgun Gothic"/>
              </a:rPr>
              <a:t>Problem A: CI 통과와 scope creep을 분리해 판단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9808" y="3392424"/>
            <a:ext cx="109728" cy="109728"/>
          </a:xfrm>
          <a:prstGeom prst="rect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69264" y="3310128"/>
            <a:ext cx="5074920" cy="310896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1100" b="0">
                <a:solidFill>
                  <a:srgbClr val="111111"/>
                </a:solidFill>
                <a:latin typeface="Malgun Gothic"/>
              </a:rPr>
              <a:t>Problem B: CI 실패와 training marker를 근거로 판단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9808" y="3822191"/>
            <a:ext cx="109728" cy="109728"/>
          </a:xfrm>
          <a:prstGeom prst="rect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69264" y="3739896"/>
            <a:ext cx="5074920" cy="310896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1100" b="0">
                <a:solidFill>
                  <a:srgbClr val="111111"/>
                </a:solidFill>
                <a:latin typeface="Malgun Gothic"/>
              </a:rPr>
              <a:t>각 PR마다 agent에게 남길 수정 요청 문장을 하나씩 작성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9808" y="4773168"/>
            <a:ext cx="2606040" cy="347472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solidFill>
              <a:srgbClr val="096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59536" y="4846320"/>
            <a:ext cx="2386584" cy="15544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900" b="1">
                <a:solidFill>
                  <a:srgbClr val="0969DA"/>
                </a:solidFill>
                <a:latin typeface="Malgun Gothic"/>
                <a:hlinkClick r:id="rId2"/>
              </a:rPr>
              <a:t>Problem A #9 열기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9808" y="5193792"/>
            <a:ext cx="2606040" cy="347472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solidFill>
              <a:srgbClr val="096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59536" y="5266944"/>
            <a:ext cx="2386584" cy="15544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900" b="1">
                <a:solidFill>
                  <a:srgbClr val="0969DA"/>
                </a:solidFill>
                <a:latin typeface="Malgun Gothic"/>
                <a:hlinkClick r:id="rId3"/>
              </a:rPr>
              <a:t>Problem B #10 열기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-marker"/>
          <p:cNvSpPr/>
          <p:nvPr/>
        </p:nvSpPr>
        <p:spPr>
          <a:xfrm>
            <a:off x="438912" y="347472"/>
            <a:ext cx="128016" cy="128016"/>
          </a:xfrm>
          <a:prstGeom prst="rect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kicker-label"/>
          <p:cNvSpPr txBox="1"/>
          <p:nvPr/>
        </p:nvSpPr>
        <p:spPr>
          <a:xfrm>
            <a:off x="676656" y="283464"/>
            <a:ext cx="4206240" cy="256032"/>
          </a:xfrm>
          <a:prstGeom prst="rect">
            <a:avLst/>
          </a:prstGeom>
          <a:noFill/>
        </p:spPr>
        <p:txBody>
          <a:bodyPr wrap="square" lIns="27432" tIns="18288" rIns="27432" bIns="18288" anchor="ctr">
            <a:spAutoFit/>
          </a:bodyPr>
          <a:lstStyle/>
          <a:p>
            <a:r>
              <a:rPr sz="1000" b="1">
                <a:solidFill>
                  <a:srgbClr val="E8000D"/>
                </a:solidFill>
                <a:latin typeface="Consolas"/>
              </a:rPr>
              <a:t>EXIT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" y="822960"/>
            <a:ext cx="2606040" cy="22860"/>
          </a:xfrm>
          <a:prstGeom prst="rect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58368" y="969264"/>
            <a:ext cx="9189720" cy="1060704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2800" b="1">
                <a:solidFill>
                  <a:srgbClr val="111111"/>
                </a:solidFill>
                <a:latin typeface="Malgun Gothic"/>
              </a:rPr>
              <a:t>Exit ticket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139696"/>
            <a:ext cx="8823960" cy="65836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1300" b="0">
                <a:solidFill>
                  <a:srgbClr val="444444"/>
                </a:solidFill>
                <a:latin typeface="Malgun Gothic"/>
              </a:rPr>
              <a:t>마지막 제출물은 정답 맞히기가 아니라, 판단을 화면 근거와 comment 문장으로 설명하는 연습입니다.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41080" y="6492240"/>
            <a:ext cx="2971800" cy="164592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r"/>
            <a:r>
              <a:rPr sz="700" b="0">
                <a:solidFill>
                  <a:srgbClr val="737373"/>
                </a:solidFill>
                <a:latin typeface="Consolas"/>
              </a:rPr>
              <a:t>22 / Design reference: corazzon/pptx-design-styles (MIT)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971800"/>
            <a:ext cx="3246120" cy="1417320"/>
          </a:xfrm>
          <a:prstGeom prst="roundRect">
            <a:avLst>
              <a:gd name="adj" fmla="val 8000"/>
            </a:avLst>
          </a:prstGeom>
          <a:solidFill>
            <a:srgbClr val="E8FF3B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59" y="3118104"/>
            <a:ext cx="2916936" cy="310896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1300" b="1">
                <a:solidFill>
                  <a:srgbClr val="111111"/>
                </a:solidFill>
                <a:latin typeface="Malgun Gothic"/>
              </a:rPr>
              <a:t>판단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502152"/>
            <a:ext cx="2916936" cy="758952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900" b="0">
                <a:solidFill>
                  <a:srgbClr val="444444"/>
                </a:solidFill>
                <a:latin typeface="Malgun Gothic"/>
              </a:rPr>
              <a:t>Merge / Request changes / Hold 중 하나를 고르고 Draft PR은 실제로 누르지 않는다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07407" y="2971800"/>
            <a:ext cx="3246120" cy="1417320"/>
          </a:xfrm>
          <a:prstGeom prst="roundRect">
            <a:avLst>
              <a:gd name="adj" fmla="val 8000"/>
            </a:avLst>
          </a:prstGeom>
          <a:solidFill>
            <a:srgbClr val="4ECDC4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71999" y="3118104"/>
            <a:ext cx="2916936" cy="310896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1300" b="1">
                <a:solidFill>
                  <a:srgbClr val="111111"/>
                </a:solidFill>
                <a:latin typeface="Malgun Gothic"/>
              </a:rPr>
              <a:t>근거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1999" y="3502152"/>
            <a:ext cx="2916936" cy="758952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900" b="0">
                <a:solidFill>
                  <a:srgbClr val="444444"/>
                </a:solidFill>
                <a:latin typeface="Malgun Gothic"/>
              </a:rPr>
              <a:t>Files changed, Diff, Checks 중 2개 이상을 화면 위치와 함께 쓴다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56448" y="2971800"/>
            <a:ext cx="324612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321040" y="3118104"/>
            <a:ext cx="2916936" cy="310896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1300" b="1">
                <a:solidFill>
                  <a:srgbClr val="111111"/>
                </a:solidFill>
                <a:latin typeface="Malgun Gothic"/>
              </a:rPr>
              <a:t>comment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3502152"/>
            <a:ext cx="2916936" cy="758952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r>
              <a:rPr sz="900" b="0">
                <a:solidFill>
                  <a:srgbClr val="444444"/>
                </a:solidFill>
                <a:latin typeface="Malgun Gothic"/>
              </a:rPr>
              <a:t>위치 + 근거 + 요청이 모두 보이게 agent에게 남길 문장으로 작성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1834</Words>
  <Application>Microsoft Office PowerPoint</Application>
  <PresentationFormat>Widescreen</PresentationFormat>
  <Paragraphs>228</Paragraphs>
  <Slides>22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7" baseType="lpstr">
      <vt:lpstr>Malgun Gothic</vt:lpstr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주영 장</cp:lastModifiedBy>
  <cp:revision>2</cp:revision>
  <dcterms:created xsi:type="dcterms:W3CDTF">2013-01-27T09:14:16Z</dcterms:created>
  <dcterms:modified xsi:type="dcterms:W3CDTF">2026-06-04T08:30:03Z</dcterms:modified>
  <cp:category/>
</cp:coreProperties>
</file>